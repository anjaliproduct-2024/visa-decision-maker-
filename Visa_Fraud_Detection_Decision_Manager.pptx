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71"/>
                </a:solidFill>
                <a:latin typeface="Calibri"/>
              </a:defRPr>
            </a:pPr>
            <a:r>
              <a:rPr sz="1400" b="0" i="0" u="none" strike="noStrike">
                <a:solidFill>
                  <a:srgbClr val="1A1F71"/>
                </a:solidFill>
                <a:latin typeface="Calibri"/>
              </a:rPr>
              <a:t>Before vs. After  •  90 days post-deployment</a:t>
            </a:r>
          </a:p>
        </c:rich>
      </c:tx>
      <c:layout/>
      <c:overlay val="0"/>
    </c:title>
    <c:autoTitleDeleted val="0"/>
    <c:plotArea>
      <c:layout/>
      <c:barChart>
        <c:barDir val="col"/>
        <c:grouping val="clustered"/>
        <c:varyColors val="0"/>
        <c:ser>
          <c:idx val="0"/>
          <c:order val="0"/>
          <c:tx>
            <c:strRef>
              <c:f>Sheet1!$B$1</c:f>
              <c:strCache>
                <c:ptCount val="1"/>
                <c:pt idx="0">
                  <c:v>Before Decision Manager</c:v>
                </c:pt>
              </c:strCache>
            </c:strRef>
          </c:tx>
          <c:spPr>
            <a:solidFill>
              <a:srgbClr val="5A6385"/>
            </a:solidFill>
            <a:effectLst/>
          </c:spPr>
          <c:invertIfNegative val="0"/>
          <c:dLbls>
            <c:numFmt formatCode="#,##0" sourceLinked="0"/>
            <c:txPr>
              <a:bodyPr/>
              <a:lstStyle/>
              <a:p>
                <a:pPr>
                  <a:defRPr b="0" i="0" strike="noStrike" sz="900" u="none">
                    <a:solidFill>
                      <a:srgbClr val="0B1437"/>
                    </a:solidFill>
                    <a:latin typeface="Arial"/>
                  </a:defRPr>
                </a:pPr>
              </a:p>
            </c:txPr>
            <c:showLegendKey val="0"/>
            <c:showVal val="1"/>
            <c:showCatName val="0"/>
            <c:showSerName val="0"/>
            <c:showPercent val="0"/>
            <c:showBubbleSize val="0"/>
            <c:showLeaderLines val="0"/>
          </c:dLbls>
          <c:cat>
            <c:multiLvlStrRef>
              <c:f>Sheet1!$A$2:$A$5</c:f>
              <c:multiLvlStrCache>
                <c:ptCount val="4"/>
                <c:lvl>
                  <c:pt idx="0">
                    <c:v>Chargeback %</c:v>
                  </c:pt>
                  <c:pt idx="1">
                    <c:v>Manual review %</c:v>
                  </c:pt>
                  <c:pt idx="2">
                    <c:v>False positive %</c:v>
                  </c:pt>
                  <c:pt idx="3">
                    <c:v>Decline rate %</c:v>
                  </c:pt>
                </c:lvl>
              </c:multiLvlStrCache>
            </c:multiLvlStrRef>
          </c:cat>
          <c:val>
            <c:numRef>
              <c:f>Sheet1!$B$2:$B$5</c:f>
              <c:numCache>
                <c:formatCode>General</c:formatCode>
                <c:ptCount val="4"/>
                <c:pt idx="0">
                  <c:v>1.45</c:v>
                </c:pt>
                <c:pt idx="1">
                  <c:v>12</c:v>
                </c:pt>
                <c:pt idx="2">
                  <c:v>8.4</c:v>
                </c:pt>
                <c:pt idx="3">
                  <c:v>9.3</c:v>
                </c:pt>
              </c:numCache>
            </c:numRef>
          </c:val>
        </c:ser>
        <c:ser>
          <c:idx val="1"/>
          <c:order val="1"/>
          <c:tx>
            <c:strRef>
              <c:f>Sheet1!$C$1</c:f>
              <c:strCache>
                <c:ptCount val="1"/>
                <c:pt idx="0">
                  <c:v>After Decision Manager</c:v>
                </c:pt>
              </c:strCache>
            </c:strRef>
          </c:tx>
          <c:spPr>
            <a:solidFill>
              <a:srgbClr val="1A1F71"/>
            </a:solidFill>
            <a:effectLst/>
          </c:spPr>
          <c:invertIfNegative val="0"/>
          <c:dLbls>
            <c:numFmt formatCode="#,##0" sourceLinked="0"/>
            <c:txPr>
              <a:bodyPr/>
              <a:lstStyle/>
              <a:p>
                <a:pPr>
                  <a:defRPr b="0" i="0" strike="noStrike" sz="900" u="none">
                    <a:solidFill>
                      <a:srgbClr val="0B1437"/>
                    </a:solidFill>
                    <a:latin typeface="Arial"/>
                  </a:defRPr>
                </a:pPr>
              </a:p>
            </c:txPr>
            <c:showLegendKey val="0"/>
            <c:showVal val="1"/>
            <c:showCatName val="0"/>
            <c:showSerName val="0"/>
            <c:showPercent val="0"/>
            <c:showBubbleSize val="0"/>
            <c:showLeaderLines val="0"/>
          </c:dLbls>
          <c:cat>
            <c:multiLvlStrRef>
              <c:f>Sheet1!$A$2:$A$5</c:f>
              <c:multiLvlStrCache>
                <c:ptCount val="4"/>
                <c:lvl>
                  <c:pt idx="0">
                    <c:v>Chargeback %</c:v>
                  </c:pt>
                  <c:pt idx="1">
                    <c:v>Manual review %</c:v>
                  </c:pt>
                  <c:pt idx="2">
                    <c:v>False positive %</c:v>
                  </c:pt>
                  <c:pt idx="3">
                    <c:v>Decline rate %</c:v>
                  </c:pt>
                </c:lvl>
              </c:multiLvlStrCache>
            </c:multiLvlStrRef>
          </c:cat>
          <c:val>
            <c:numRef>
              <c:f>Sheet1!$C$2:$C$5</c:f>
              <c:numCache>
                <c:formatCode>General</c:formatCode>
                <c:ptCount val="4"/>
                <c:pt idx="0">
                  <c:v>0.87</c:v>
                </c:pt>
                <c:pt idx="1">
                  <c:v>3.2</c:v>
                </c:pt>
                <c:pt idx="2">
                  <c:v>4</c:v>
                </c:pt>
                <c:pt idx="3">
                  <c:v>6.2</c:v>
                </c:pt>
              </c:numCache>
            </c:numRef>
          </c:val>
        </c:ser>
        <c:dLbls>
          <c:numFmt formatCode="#,##0" sourceLinked="0"/>
          <c:txPr>
            <a:bodyPr/>
            <a:lstStyle/>
            <a:p>
              <a:pPr>
                <a:defRPr b="0" i="0" strike="noStrike" sz="900" u="none">
                  <a:solidFill>
                    <a:srgbClr val="0B14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Percent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71"/>
                </a:solidFill>
                <a:latin typeface="Calibri"/>
              </a:defRPr>
            </a:pPr>
            <a:r>
              <a:rPr sz="1400" b="0" i="0" u="none" strike="noStrike">
                <a:solidFill>
                  <a:srgbClr val="1A1F71"/>
                </a:solidFill>
                <a:latin typeface="Calibri"/>
              </a:rPr>
              <a:t>Fraud loss rate — basis points of GMV  •  2018–2024</a:t>
            </a:r>
          </a:p>
        </c:rich>
      </c:tx>
      <c:layout/>
      <c:overlay val="0"/>
    </c:title>
    <c:autoTitleDeleted val="0"/>
    <c:plotArea>
      <c:layout/>
      <c:lineChart>
        <c:varyColors val="0"/>
        <c:ser>
          <c:idx val="0"/>
          <c:order val="0"/>
          <c:tx>
            <c:strRef>
              <c:f>Sheet1!$B$1</c:f>
              <c:strCache>
                <c:ptCount val="1"/>
                <c:pt idx="0">
                  <c:v>Industry avg. fraud loss rate (bps)</c:v>
                </c:pt>
              </c:strCache>
            </c:strRef>
          </c:tx>
          <c:spPr>
            <a:solidFill>
              <a:srgbClr val="5A6385"/>
            </a:solidFill>
            <a:ln w="25400" cap="flat">
              <a:solidFill>
                <a:srgbClr val="5A638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5A6385"/>
              </a:solidFill>
              <a:ln w="9525" cap="flat">
                <a:solidFill>
                  <a:srgbClr val="5A6385"/>
                </a:solidFill>
                <a:prstDash val="solid"/>
                <a:round/>
              </a:ln>
              <a:effectLst/>
            </c:spPr>
          </c:marker>
          <c:cat>
            <c:multiLvlStrRef>
              <c:f>Sheet1!$A$2:$A$8</c:f>
              <c:multiLvlStrCache>
                <c:ptCount val="7"/>
                <c:lvl>
                  <c:pt idx="0">
                    <c:v>2018</c:v>
                  </c:pt>
                  <c:pt idx="1">
                    <c:v>2019</c:v>
                  </c:pt>
                  <c:pt idx="2">
                    <c:v>2020</c:v>
                  </c:pt>
                  <c:pt idx="3">
                    <c:v>2021</c:v>
                  </c:pt>
                  <c:pt idx="4">
                    <c:v>2022</c:v>
                  </c:pt>
                  <c:pt idx="5">
                    <c:v>2023</c:v>
                  </c:pt>
                  <c:pt idx="6">
                    <c:v>2024</c:v>
                  </c:pt>
                </c:lvl>
              </c:multiLvlStrCache>
            </c:multiLvlStrRef>
          </c:cat>
          <c:val>
            <c:numRef>
              <c:f>Sheet1!$B$2:$B$8</c:f>
              <c:numCache>
                <c:formatCode>General</c:formatCode>
                <c:ptCount val="7"/>
                <c:pt idx="0">
                  <c:v>9.2</c:v>
                </c:pt>
                <c:pt idx="1">
                  <c:v>8.7</c:v>
                </c:pt>
                <c:pt idx="2">
                  <c:v>8.4</c:v>
                </c:pt>
                <c:pt idx="3">
                  <c:v>7.6</c:v>
                </c:pt>
                <c:pt idx="4">
                  <c:v>6.9</c:v>
                </c:pt>
                <c:pt idx="5">
                  <c:v>6.1</c:v>
                </c:pt>
                <c:pt idx="6">
                  <c:v>5.4</c:v>
                </c:pt>
              </c:numCache>
            </c:numRef>
          </c:val>
          <c:smooth val="0"/>
        </c:ser>
        <c:ser>
          <c:idx val="1"/>
          <c:order val="1"/>
          <c:tx>
            <c:strRef>
              <c:f>Sheet1!$C$1</c:f>
              <c:strCache>
                <c:ptCount val="1"/>
                <c:pt idx="0">
                  <c:v>AI-protected merchants (bps)</c:v>
                </c:pt>
              </c:strCache>
            </c:strRef>
          </c:tx>
          <c:spPr>
            <a:solidFill>
              <a:srgbClr val="1A1F71"/>
            </a:solidFill>
            <a:ln w="25400" cap="flat">
              <a:solidFill>
                <a:srgbClr val="1A1F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A1F71"/>
              </a:solidFill>
              <a:ln w="9525" cap="flat">
                <a:solidFill>
                  <a:srgbClr val="1A1F71"/>
                </a:solidFill>
                <a:prstDash val="solid"/>
                <a:round/>
              </a:ln>
              <a:effectLst/>
            </c:spPr>
          </c:marker>
          <c:cat>
            <c:multiLvlStrRef>
              <c:f>Sheet1!$A$2:$A$8</c:f>
              <c:multiLvlStrCache>
                <c:ptCount val="7"/>
                <c:lvl>
                  <c:pt idx="0">
                    <c:v>2018</c:v>
                  </c:pt>
                  <c:pt idx="1">
                    <c:v>2019</c:v>
                  </c:pt>
                  <c:pt idx="2">
                    <c:v>2020</c:v>
                  </c:pt>
                  <c:pt idx="3">
                    <c:v>2021</c:v>
                  </c:pt>
                  <c:pt idx="4">
                    <c:v>2022</c:v>
                  </c:pt>
                  <c:pt idx="5">
                    <c:v>2023</c:v>
                  </c:pt>
                  <c:pt idx="6">
                    <c:v>2024</c:v>
                  </c:pt>
                </c:lvl>
              </c:multiLvlStrCache>
            </c:multiLvlStrRef>
          </c:cat>
          <c:val>
            <c:numRef>
              <c:f>Sheet1!$C$2:$C$8</c:f>
              <c:numCache>
                <c:formatCode>General</c:formatCode>
                <c:ptCount val="7"/>
                <c:pt idx="0">
                  <c:v>7.1</c:v>
                </c:pt>
                <c:pt idx="1">
                  <c:v>5.8</c:v>
                </c:pt>
                <c:pt idx="2">
                  <c:v>4.6</c:v>
                </c:pt>
                <c:pt idx="3">
                  <c:v>3.7</c:v>
                </c:pt>
                <c:pt idx="4">
                  <c:v>2.9</c:v>
                </c:pt>
                <c:pt idx="5">
                  <c:v>2.3</c:v>
                </c:pt>
                <c:pt idx="6">
                  <c:v>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Basis points (bps)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SA_MASTER">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88952" cy="320040"/>
          </a:xfrm>
          <a:prstGeom prst="rect">
            <a:avLst/>
          </a:prstGeom>
          <a:solidFill>
            <a:srgbClr val="1A1F71"/>
          </a:solidFill>
          <a:ln/>
        </p:spPr>
      </p:sp>
      <p:sp>
        <p:nvSpPr>
          <p:cNvPr id="3" name="Shape 1"/>
          <p:cNvSpPr/>
          <p:nvPr/>
        </p:nvSpPr>
        <p:spPr>
          <a:xfrm>
            <a:off x="0" y="320040"/>
            <a:ext cx="12188952" cy="54864"/>
          </a:xfrm>
          <a:prstGeom prst="rect">
            <a:avLst/>
          </a:prstGeom>
          <a:solidFill>
            <a:srgbClr val="F7B600"/>
          </a:solidFill>
          <a:ln/>
        </p:spPr>
      </p:sp>
      <p:sp>
        <p:nvSpPr>
          <p:cNvPr id="4" name="Shape 2"/>
          <p:cNvSpPr/>
          <p:nvPr/>
        </p:nvSpPr>
        <p:spPr>
          <a:xfrm>
            <a:off x="0" y="6629400"/>
            <a:ext cx="12188952" cy="228600"/>
          </a:xfrm>
          <a:prstGeom prst="rect">
            <a:avLst/>
          </a:prstGeom>
          <a:solidFill>
            <a:srgbClr val="1A1F71"/>
          </a:solidFill>
          <a:ln/>
        </p:spPr>
      </p:sp>
      <p:sp>
        <p:nvSpPr>
          <p:cNvPr id="5" name="Text 3"/>
          <p:cNvSpPr/>
          <p:nvPr/>
        </p:nvSpPr>
        <p:spPr>
          <a:xfrm>
            <a:off x="365760" y="6647688"/>
            <a:ext cx="7315200" cy="201168"/>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VISA  •  Fraud Detection &amp; Prevention  •  Decision Manager</a:t>
            </a:r>
            <a:endParaRPr lang="en-US" sz="900" dirty="0"/>
          </a:p>
        </p:txBody>
      </p:sp>
      <p:sp>
        <p:nvSpPr>
          <p:cNvPr id="6" name="Text 4"/>
          <p:cNvSpPr/>
          <p:nvPr/>
        </p:nvSpPr>
        <p:spPr>
          <a:xfrm>
            <a:off x="8229600" y="6647688"/>
            <a:ext cx="3657600" cy="201168"/>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Confidential — For discussion only</a:t>
            </a:r>
            <a:endParaRPr lang="en-US" sz="9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7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F71"/>
          </a:solidFill>
          <a:ln w="12700">
            <a:solidFill>
              <a:srgbClr val="1A1F71"/>
            </a:solidFill>
            <a:prstDash val="solid"/>
          </a:ln>
        </p:spPr>
      </p:sp>
      <p:sp>
        <p:nvSpPr>
          <p:cNvPr id="3" name="Shape 1"/>
          <p:cNvSpPr/>
          <p:nvPr/>
        </p:nvSpPr>
        <p:spPr>
          <a:xfrm>
            <a:off x="0" y="0"/>
            <a:ext cx="12188952" cy="54864"/>
          </a:xfrm>
          <a:prstGeom prst="rect">
            <a:avLst/>
          </a:prstGeom>
          <a:solidFill>
            <a:srgbClr val="F7B600"/>
          </a:solidFill>
          <a:ln w="12700">
            <a:solidFill>
              <a:srgbClr val="F7B600"/>
            </a:solidFill>
            <a:prstDash val="solid"/>
          </a:ln>
        </p:spPr>
      </p:sp>
      <p:sp>
        <p:nvSpPr>
          <p:cNvPr id="4" name="Text 2"/>
          <p:cNvSpPr/>
          <p:nvPr/>
        </p:nvSpPr>
        <p:spPr>
          <a:xfrm>
            <a:off x="548640" y="457200"/>
            <a:ext cx="2743200" cy="640080"/>
          </a:xfrm>
          <a:prstGeom prst="rect">
            <a:avLst/>
          </a:prstGeom>
          <a:noFill/>
          <a:ln/>
        </p:spPr>
        <p:txBody>
          <a:bodyPr wrap="square" rtlCol="0" anchor="ctr"/>
          <a:lstStyle/>
          <a:p>
            <a:pPr indent="0" marL="0">
              <a:buNone/>
            </a:pPr>
            <a:r>
              <a:rPr lang="en-US" sz="3600" b="1" i="1" spc="600" kern="0" dirty="0">
                <a:solidFill>
                  <a:srgbClr val="FFFFFF"/>
                </a:solidFill>
                <a:latin typeface="Arial" pitchFamily="34" charset="0"/>
                <a:ea typeface="Arial" pitchFamily="34" charset="-122"/>
                <a:cs typeface="Arial" pitchFamily="34" charset="-120"/>
              </a:rPr>
              <a:t>VISA</a:t>
            </a:r>
            <a:endParaRPr lang="en-US" sz="3600" dirty="0"/>
          </a:p>
        </p:txBody>
      </p:sp>
      <p:sp>
        <p:nvSpPr>
          <p:cNvPr id="5" name="Shape 3"/>
          <p:cNvSpPr/>
          <p:nvPr/>
        </p:nvSpPr>
        <p:spPr>
          <a:xfrm>
            <a:off x="548640" y="1078992"/>
            <a:ext cx="1097280" cy="0"/>
          </a:xfrm>
          <a:prstGeom prst="line">
            <a:avLst/>
          </a:prstGeom>
          <a:noFill/>
          <a:ln w="38100">
            <a:solidFill>
              <a:srgbClr val="F7B600"/>
            </a:solidFill>
            <a:prstDash val="solid"/>
          </a:ln>
        </p:spPr>
      </p:sp>
      <p:sp>
        <p:nvSpPr>
          <p:cNvPr id="6" name="Text 4"/>
          <p:cNvSpPr/>
          <p:nvPr/>
        </p:nvSpPr>
        <p:spPr>
          <a:xfrm>
            <a:off x="548640" y="2194560"/>
            <a:ext cx="10972800" cy="457200"/>
          </a:xfrm>
          <a:prstGeom prst="rect">
            <a:avLst/>
          </a:prstGeom>
          <a:noFill/>
          <a:ln/>
        </p:spPr>
        <p:txBody>
          <a:bodyPr wrap="square" rtlCol="0" anchor="ctr"/>
          <a:lstStyle/>
          <a:p>
            <a:pPr indent="0" marL="0">
              <a:buNone/>
            </a:pPr>
            <a:r>
              <a:rPr lang="en-US" sz="1400" b="1" spc="800" kern="0" dirty="0">
                <a:solidFill>
                  <a:srgbClr val="F7B600"/>
                </a:solidFill>
                <a:latin typeface="Calibri" pitchFamily="34" charset="0"/>
                <a:ea typeface="Calibri" pitchFamily="34" charset="-122"/>
                <a:cs typeface="Calibri" pitchFamily="34" charset="-120"/>
              </a:rPr>
              <a:t>FRAUD DETECTION &amp; PREVENTION</a:t>
            </a:r>
            <a:endParaRPr lang="en-US" sz="1400" dirty="0"/>
          </a:p>
        </p:txBody>
      </p:sp>
      <p:sp>
        <p:nvSpPr>
          <p:cNvPr id="7" name="Text 5"/>
          <p:cNvSpPr/>
          <p:nvPr/>
        </p:nvSpPr>
        <p:spPr>
          <a:xfrm>
            <a:off x="548640" y="2651760"/>
            <a:ext cx="10972800" cy="1828800"/>
          </a:xfrm>
          <a:prstGeom prst="rect">
            <a:avLst/>
          </a:prstGeom>
          <a:noFill/>
          <a:ln/>
        </p:spPr>
        <p:txBody>
          <a:bodyPr wrap="square" rtlCol="0" anchor="ctr"/>
          <a:lstStyle/>
          <a:p>
            <a:pPr indent="0" marL="0">
              <a:lnSpc>
                <a:spcPct val="105000"/>
              </a:lnSpc>
              <a:buNone/>
            </a:pPr>
            <a:r>
              <a:rPr lang="en-US" sz="4800" b="1" dirty="0">
                <a:solidFill>
                  <a:srgbClr val="FFFFFF"/>
                </a:solidFill>
                <a:latin typeface="Calibri" pitchFamily="34" charset="0"/>
                <a:ea typeface="Calibri" pitchFamily="34" charset="-122"/>
                <a:cs typeface="Calibri" pitchFamily="34" charset="-120"/>
              </a:rPr>
              <a:t>Stopping Fraud in Real Time with</a:t>
            </a:r>
            <a:endParaRPr lang="en-US" sz="4800" dirty="0"/>
          </a:p>
          <a:p>
            <a:pPr indent="0" marL="0">
              <a:lnSpc>
                <a:spcPct val="105000"/>
              </a:lnSpc>
              <a:buNone/>
            </a:pPr>
            <a:r>
              <a:rPr lang="en-US" sz="4800" b="1" dirty="0">
                <a:solidFill>
                  <a:srgbClr val="FFFFFF"/>
                </a:solidFill>
                <a:latin typeface="Calibri" pitchFamily="34" charset="0"/>
                <a:ea typeface="Calibri" pitchFamily="34" charset="-122"/>
                <a:cs typeface="Calibri" pitchFamily="34" charset="-120"/>
              </a:rPr>
              <a:t>Visa Decision Manager + AI</a:t>
            </a:r>
            <a:endParaRPr lang="en-US" sz="4800" dirty="0"/>
          </a:p>
        </p:txBody>
      </p:sp>
      <p:sp>
        <p:nvSpPr>
          <p:cNvPr id="8" name="Text 6"/>
          <p:cNvSpPr/>
          <p:nvPr/>
        </p:nvSpPr>
        <p:spPr>
          <a:xfrm>
            <a:off x="548640" y="4572000"/>
            <a:ext cx="10058400" cy="914400"/>
          </a:xfrm>
          <a:prstGeom prst="rect">
            <a:avLst/>
          </a:prstGeom>
          <a:noFill/>
          <a:ln/>
        </p:spPr>
        <p:txBody>
          <a:bodyPr wrap="square" rtlCol="0" anchor="ctr"/>
          <a:lstStyle/>
          <a:p>
            <a:pPr indent="0" marL="0">
              <a:buNone/>
            </a:pPr>
            <a:r>
              <a:rPr lang="en-US" sz="1600" dirty="0">
                <a:solidFill>
                  <a:srgbClr val="C9D2F0"/>
                </a:solidFill>
                <a:latin typeface="Calibri" pitchFamily="34" charset="0"/>
                <a:ea typeface="Calibri" pitchFamily="34" charset="-122"/>
                <a:cs typeface="Calibri" pitchFamily="34" charset="-120"/>
              </a:rPr>
              <a:t>A deep dive into Visa's AI-powered risk decisioning platform, a real-world case study, and the measurable impact of machine learning on global payments fraud.</a:t>
            </a:r>
            <a:endParaRPr lang="en-US" sz="1600" dirty="0"/>
          </a:p>
        </p:txBody>
      </p:sp>
      <p:sp>
        <p:nvSpPr>
          <p:cNvPr id="9" name="Text 7"/>
          <p:cNvSpPr/>
          <p:nvPr/>
        </p:nvSpPr>
        <p:spPr>
          <a:xfrm>
            <a:off x="548640" y="6126480"/>
            <a:ext cx="7315200" cy="274320"/>
          </a:xfrm>
          <a:prstGeom prst="rect">
            <a:avLst/>
          </a:prstGeom>
          <a:noFill/>
          <a:ln/>
        </p:spPr>
        <p:txBody>
          <a:bodyPr wrap="square" rtlCol="0" anchor="ctr"/>
          <a:lstStyle/>
          <a:p>
            <a:pPr indent="0" marL="0">
              <a:buNone/>
            </a:pPr>
            <a:r>
              <a:rPr lang="en-US" sz="1100" dirty="0">
                <a:solidFill>
                  <a:srgbClr val="9AA7D6"/>
                </a:solidFill>
                <a:latin typeface="Calibri" pitchFamily="34" charset="0"/>
                <a:ea typeface="Calibri" pitchFamily="34" charset="-122"/>
                <a:cs typeface="Calibri" pitchFamily="34" charset="-120"/>
              </a:rPr>
              <a:t>Prepared by: Visa Risk &amp; Identity Solutions  •  2025</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What we'll cover</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737360"/>
            <a:ext cx="5486400" cy="1234440"/>
          </a:xfrm>
          <a:prstGeom prst="roundRect">
            <a:avLst>
              <a:gd name="adj" fmla="val 7407"/>
            </a:avLst>
          </a:prstGeom>
          <a:solidFill>
            <a:srgbClr val="FFFFFF"/>
          </a:solidFill>
          <a:ln w="12700">
            <a:solidFill>
              <a:srgbClr val="E3E7F1"/>
            </a:solidFill>
            <a:prstDash val="solid"/>
          </a:ln>
        </p:spPr>
      </p:sp>
      <p:sp>
        <p:nvSpPr>
          <p:cNvPr id="6" name="Text 4"/>
          <p:cNvSpPr/>
          <p:nvPr/>
        </p:nvSpPr>
        <p:spPr>
          <a:xfrm>
            <a:off x="640080" y="1920240"/>
            <a:ext cx="822960" cy="868680"/>
          </a:xfrm>
          <a:prstGeom prst="rect">
            <a:avLst/>
          </a:prstGeom>
          <a:noFill/>
          <a:ln/>
        </p:spPr>
        <p:txBody>
          <a:bodyPr wrap="square" rtlCol="0" anchor="ctr"/>
          <a:lstStyle/>
          <a:p>
            <a:pPr indent="0" marL="0">
              <a:buNone/>
            </a:pPr>
            <a:r>
              <a:rPr lang="en-US" sz="3600" b="1" dirty="0">
                <a:solidFill>
                  <a:srgbClr val="F7B600"/>
                </a:solidFill>
                <a:latin typeface="Calibri" pitchFamily="34" charset="0"/>
                <a:ea typeface="Calibri" pitchFamily="34" charset="-122"/>
                <a:cs typeface="Calibri" pitchFamily="34" charset="-120"/>
              </a:rPr>
              <a:t>01</a:t>
            </a:r>
            <a:endParaRPr lang="en-US" sz="3600" dirty="0"/>
          </a:p>
        </p:txBody>
      </p:sp>
      <p:sp>
        <p:nvSpPr>
          <p:cNvPr id="7" name="Text 5"/>
          <p:cNvSpPr/>
          <p:nvPr/>
        </p:nvSpPr>
        <p:spPr>
          <a:xfrm>
            <a:off x="1554480" y="1901952"/>
            <a:ext cx="4297680" cy="411480"/>
          </a:xfrm>
          <a:prstGeom prst="rect">
            <a:avLst/>
          </a:prstGeom>
          <a:noFill/>
          <a:ln/>
        </p:spPr>
        <p:txBody>
          <a:bodyPr wrap="square" rtlCol="0" anchor="ctr"/>
          <a:lstStyle/>
          <a:p>
            <a:pPr indent="0" marL="0">
              <a:buNone/>
            </a:pPr>
            <a:r>
              <a:rPr lang="en-US" sz="1700" b="1" dirty="0">
                <a:solidFill>
                  <a:srgbClr val="1A1F71"/>
                </a:solidFill>
                <a:latin typeface="Calibri" pitchFamily="34" charset="0"/>
                <a:ea typeface="Calibri" pitchFamily="34" charset="-122"/>
                <a:cs typeface="Calibri" pitchFamily="34" charset="-120"/>
              </a:rPr>
              <a:t>The Fraud Landscape</a:t>
            </a:r>
            <a:endParaRPr lang="en-US" sz="1700" dirty="0"/>
          </a:p>
        </p:txBody>
      </p:sp>
      <p:sp>
        <p:nvSpPr>
          <p:cNvPr id="8" name="Text 6"/>
          <p:cNvSpPr/>
          <p:nvPr/>
        </p:nvSpPr>
        <p:spPr>
          <a:xfrm>
            <a:off x="1554480" y="2304288"/>
            <a:ext cx="4297680" cy="64008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Scale, cost, and evolving threat vectors in digital payments.</a:t>
            </a:r>
            <a:endParaRPr lang="en-US" sz="1200" dirty="0"/>
          </a:p>
        </p:txBody>
      </p:sp>
      <p:sp>
        <p:nvSpPr>
          <p:cNvPr id="9" name="Shape 7"/>
          <p:cNvSpPr/>
          <p:nvPr/>
        </p:nvSpPr>
        <p:spPr>
          <a:xfrm>
            <a:off x="6217920" y="1737360"/>
            <a:ext cx="5486400" cy="1234440"/>
          </a:xfrm>
          <a:prstGeom prst="roundRect">
            <a:avLst>
              <a:gd name="adj" fmla="val 7407"/>
            </a:avLst>
          </a:prstGeom>
          <a:solidFill>
            <a:srgbClr val="FFFFFF"/>
          </a:solidFill>
          <a:ln w="12700">
            <a:solidFill>
              <a:srgbClr val="E3E7F1"/>
            </a:solidFill>
            <a:prstDash val="solid"/>
          </a:ln>
        </p:spPr>
      </p:sp>
      <p:sp>
        <p:nvSpPr>
          <p:cNvPr id="10" name="Text 8"/>
          <p:cNvSpPr/>
          <p:nvPr/>
        </p:nvSpPr>
        <p:spPr>
          <a:xfrm>
            <a:off x="6400800" y="1920240"/>
            <a:ext cx="822960" cy="868680"/>
          </a:xfrm>
          <a:prstGeom prst="rect">
            <a:avLst/>
          </a:prstGeom>
          <a:noFill/>
          <a:ln/>
        </p:spPr>
        <p:txBody>
          <a:bodyPr wrap="square" rtlCol="0" anchor="ctr"/>
          <a:lstStyle/>
          <a:p>
            <a:pPr indent="0" marL="0">
              <a:buNone/>
            </a:pPr>
            <a:r>
              <a:rPr lang="en-US" sz="3600" b="1" dirty="0">
                <a:solidFill>
                  <a:srgbClr val="F7B600"/>
                </a:solidFill>
                <a:latin typeface="Calibri" pitchFamily="34" charset="0"/>
                <a:ea typeface="Calibri" pitchFamily="34" charset="-122"/>
                <a:cs typeface="Calibri" pitchFamily="34" charset="-120"/>
              </a:rPr>
              <a:t>02</a:t>
            </a:r>
            <a:endParaRPr lang="en-US" sz="3600" dirty="0"/>
          </a:p>
        </p:txBody>
      </p:sp>
      <p:sp>
        <p:nvSpPr>
          <p:cNvPr id="11" name="Text 9"/>
          <p:cNvSpPr/>
          <p:nvPr/>
        </p:nvSpPr>
        <p:spPr>
          <a:xfrm>
            <a:off x="7315200" y="1901952"/>
            <a:ext cx="4297680" cy="411480"/>
          </a:xfrm>
          <a:prstGeom prst="rect">
            <a:avLst/>
          </a:prstGeom>
          <a:noFill/>
          <a:ln/>
        </p:spPr>
        <p:txBody>
          <a:bodyPr wrap="square" rtlCol="0" anchor="ctr"/>
          <a:lstStyle/>
          <a:p>
            <a:pPr indent="0" marL="0">
              <a:buNone/>
            </a:pPr>
            <a:r>
              <a:rPr lang="en-US" sz="1700" b="1" dirty="0">
                <a:solidFill>
                  <a:srgbClr val="1A1F71"/>
                </a:solidFill>
                <a:latin typeface="Calibri" pitchFamily="34" charset="0"/>
                <a:ea typeface="Calibri" pitchFamily="34" charset="-122"/>
                <a:cs typeface="Calibri" pitchFamily="34" charset="-120"/>
              </a:rPr>
              <a:t>Visa Decision Manager</a:t>
            </a:r>
            <a:endParaRPr lang="en-US" sz="1700" dirty="0"/>
          </a:p>
        </p:txBody>
      </p:sp>
      <p:sp>
        <p:nvSpPr>
          <p:cNvPr id="12" name="Text 10"/>
          <p:cNvSpPr/>
          <p:nvPr/>
        </p:nvSpPr>
        <p:spPr>
          <a:xfrm>
            <a:off x="7315200" y="2304288"/>
            <a:ext cx="4297680" cy="64008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Visa's flagship AI-powered fraud decisioning platform.</a:t>
            </a:r>
            <a:endParaRPr lang="en-US" sz="1200" dirty="0"/>
          </a:p>
        </p:txBody>
      </p:sp>
      <p:sp>
        <p:nvSpPr>
          <p:cNvPr id="13" name="Shape 11"/>
          <p:cNvSpPr/>
          <p:nvPr/>
        </p:nvSpPr>
        <p:spPr>
          <a:xfrm>
            <a:off x="457200" y="3154680"/>
            <a:ext cx="5486400" cy="1234440"/>
          </a:xfrm>
          <a:prstGeom prst="roundRect">
            <a:avLst>
              <a:gd name="adj" fmla="val 7407"/>
            </a:avLst>
          </a:prstGeom>
          <a:solidFill>
            <a:srgbClr val="FFFFFF"/>
          </a:solidFill>
          <a:ln w="12700">
            <a:solidFill>
              <a:srgbClr val="E3E7F1"/>
            </a:solidFill>
            <a:prstDash val="solid"/>
          </a:ln>
        </p:spPr>
      </p:sp>
      <p:sp>
        <p:nvSpPr>
          <p:cNvPr id="14" name="Text 12"/>
          <p:cNvSpPr/>
          <p:nvPr/>
        </p:nvSpPr>
        <p:spPr>
          <a:xfrm>
            <a:off x="640080" y="3337560"/>
            <a:ext cx="822960" cy="868680"/>
          </a:xfrm>
          <a:prstGeom prst="rect">
            <a:avLst/>
          </a:prstGeom>
          <a:noFill/>
          <a:ln/>
        </p:spPr>
        <p:txBody>
          <a:bodyPr wrap="square" rtlCol="0" anchor="ctr"/>
          <a:lstStyle/>
          <a:p>
            <a:pPr indent="0" marL="0">
              <a:buNone/>
            </a:pPr>
            <a:r>
              <a:rPr lang="en-US" sz="3600" b="1" dirty="0">
                <a:solidFill>
                  <a:srgbClr val="F7B600"/>
                </a:solidFill>
                <a:latin typeface="Calibri" pitchFamily="34" charset="0"/>
                <a:ea typeface="Calibri" pitchFamily="34" charset="-122"/>
                <a:cs typeface="Calibri" pitchFamily="34" charset="-120"/>
              </a:rPr>
              <a:t>03</a:t>
            </a:r>
            <a:endParaRPr lang="en-US" sz="3600" dirty="0"/>
          </a:p>
        </p:txBody>
      </p:sp>
      <p:sp>
        <p:nvSpPr>
          <p:cNvPr id="15" name="Text 13"/>
          <p:cNvSpPr/>
          <p:nvPr/>
        </p:nvSpPr>
        <p:spPr>
          <a:xfrm>
            <a:off x="1554480" y="3319272"/>
            <a:ext cx="4297680" cy="411480"/>
          </a:xfrm>
          <a:prstGeom prst="rect">
            <a:avLst/>
          </a:prstGeom>
          <a:noFill/>
          <a:ln/>
        </p:spPr>
        <p:txBody>
          <a:bodyPr wrap="square" rtlCol="0" anchor="ctr"/>
          <a:lstStyle/>
          <a:p>
            <a:pPr indent="0" marL="0">
              <a:buNone/>
            </a:pPr>
            <a:r>
              <a:rPr lang="en-US" sz="1700" b="1" dirty="0">
                <a:solidFill>
                  <a:srgbClr val="1A1F71"/>
                </a:solidFill>
                <a:latin typeface="Calibri" pitchFamily="34" charset="0"/>
                <a:ea typeface="Calibri" pitchFamily="34" charset="-122"/>
                <a:cs typeface="Calibri" pitchFamily="34" charset="-120"/>
              </a:rPr>
              <a:t>How AI Detects Fraud</a:t>
            </a:r>
            <a:endParaRPr lang="en-US" sz="1700" dirty="0"/>
          </a:p>
        </p:txBody>
      </p:sp>
      <p:sp>
        <p:nvSpPr>
          <p:cNvPr id="16" name="Text 14"/>
          <p:cNvSpPr/>
          <p:nvPr/>
        </p:nvSpPr>
        <p:spPr>
          <a:xfrm>
            <a:off x="1554480" y="3721608"/>
            <a:ext cx="4297680" cy="64008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From rules to deep learning — the modern detection stack.</a:t>
            </a:r>
            <a:endParaRPr lang="en-US" sz="1200" dirty="0"/>
          </a:p>
        </p:txBody>
      </p:sp>
      <p:sp>
        <p:nvSpPr>
          <p:cNvPr id="17" name="Shape 15"/>
          <p:cNvSpPr/>
          <p:nvPr/>
        </p:nvSpPr>
        <p:spPr>
          <a:xfrm>
            <a:off x="6217920" y="3154680"/>
            <a:ext cx="5486400" cy="1234440"/>
          </a:xfrm>
          <a:prstGeom prst="roundRect">
            <a:avLst>
              <a:gd name="adj" fmla="val 7407"/>
            </a:avLst>
          </a:prstGeom>
          <a:solidFill>
            <a:srgbClr val="FFFFFF"/>
          </a:solidFill>
          <a:ln w="12700">
            <a:solidFill>
              <a:srgbClr val="E3E7F1"/>
            </a:solidFill>
            <a:prstDash val="solid"/>
          </a:ln>
        </p:spPr>
      </p:sp>
      <p:sp>
        <p:nvSpPr>
          <p:cNvPr id="18" name="Text 16"/>
          <p:cNvSpPr/>
          <p:nvPr/>
        </p:nvSpPr>
        <p:spPr>
          <a:xfrm>
            <a:off x="6400800" y="3337560"/>
            <a:ext cx="822960" cy="868680"/>
          </a:xfrm>
          <a:prstGeom prst="rect">
            <a:avLst/>
          </a:prstGeom>
          <a:noFill/>
          <a:ln/>
        </p:spPr>
        <p:txBody>
          <a:bodyPr wrap="square" rtlCol="0" anchor="ctr"/>
          <a:lstStyle/>
          <a:p>
            <a:pPr indent="0" marL="0">
              <a:buNone/>
            </a:pPr>
            <a:r>
              <a:rPr lang="en-US" sz="3600" b="1" dirty="0">
                <a:solidFill>
                  <a:srgbClr val="F7B600"/>
                </a:solidFill>
                <a:latin typeface="Calibri" pitchFamily="34" charset="0"/>
                <a:ea typeface="Calibri" pitchFamily="34" charset="-122"/>
                <a:cs typeface="Calibri" pitchFamily="34" charset="-120"/>
              </a:rPr>
              <a:t>04</a:t>
            </a:r>
            <a:endParaRPr lang="en-US" sz="3600" dirty="0"/>
          </a:p>
        </p:txBody>
      </p:sp>
      <p:sp>
        <p:nvSpPr>
          <p:cNvPr id="19" name="Text 17"/>
          <p:cNvSpPr/>
          <p:nvPr/>
        </p:nvSpPr>
        <p:spPr>
          <a:xfrm>
            <a:off x="7315200" y="3319272"/>
            <a:ext cx="4297680" cy="411480"/>
          </a:xfrm>
          <a:prstGeom prst="rect">
            <a:avLst/>
          </a:prstGeom>
          <a:noFill/>
          <a:ln/>
        </p:spPr>
        <p:txBody>
          <a:bodyPr wrap="square" rtlCol="0" anchor="ctr"/>
          <a:lstStyle/>
          <a:p>
            <a:pPr indent="0" marL="0">
              <a:buNone/>
            </a:pPr>
            <a:r>
              <a:rPr lang="en-US" sz="1700" b="1" dirty="0">
                <a:solidFill>
                  <a:srgbClr val="1A1F71"/>
                </a:solidFill>
                <a:latin typeface="Calibri" pitchFamily="34" charset="0"/>
                <a:ea typeface="Calibri" pitchFamily="34" charset="-122"/>
                <a:cs typeface="Calibri" pitchFamily="34" charset="-120"/>
              </a:rPr>
              <a:t>Case Study</a:t>
            </a:r>
            <a:endParaRPr lang="en-US" sz="1700" dirty="0"/>
          </a:p>
        </p:txBody>
      </p:sp>
      <p:sp>
        <p:nvSpPr>
          <p:cNvPr id="20" name="Text 18"/>
          <p:cNvSpPr/>
          <p:nvPr/>
        </p:nvSpPr>
        <p:spPr>
          <a:xfrm>
            <a:off x="7315200" y="3721608"/>
            <a:ext cx="4297680" cy="64008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A global airline cuts chargebacks by 40% with Decision Manager.</a:t>
            </a:r>
            <a:endParaRPr lang="en-US" sz="1200" dirty="0"/>
          </a:p>
        </p:txBody>
      </p:sp>
      <p:sp>
        <p:nvSpPr>
          <p:cNvPr id="21" name="Shape 19"/>
          <p:cNvSpPr/>
          <p:nvPr/>
        </p:nvSpPr>
        <p:spPr>
          <a:xfrm>
            <a:off x="457200" y="4572000"/>
            <a:ext cx="5486400" cy="1234440"/>
          </a:xfrm>
          <a:prstGeom prst="roundRect">
            <a:avLst>
              <a:gd name="adj" fmla="val 7407"/>
            </a:avLst>
          </a:prstGeom>
          <a:solidFill>
            <a:srgbClr val="FFFFFF"/>
          </a:solidFill>
          <a:ln w="12700">
            <a:solidFill>
              <a:srgbClr val="E3E7F1"/>
            </a:solidFill>
            <a:prstDash val="solid"/>
          </a:ln>
        </p:spPr>
      </p:sp>
      <p:sp>
        <p:nvSpPr>
          <p:cNvPr id="22" name="Text 20"/>
          <p:cNvSpPr/>
          <p:nvPr/>
        </p:nvSpPr>
        <p:spPr>
          <a:xfrm>
            <a:off x="640080" y="4754880"/>
            <a:ext cx="822960" cy="868680"/>
          </a:xfrm>
          <a:prstGeom prst="rect">
            <a:avLst/>
          </a:prstGeom>
          <a:noFill/>
          <a:ln/>
        </p:spPr>
        <p:txBody>
          <a:bodyPr wrap="square" rtlCol="0" anchor="ctr"/>
          <a:lstStyle/>
          <a:p>
            <a:pPr indent="0" marL="0">
              <a:buNone/>
            </a:pPr>
            <a:r>
              <a:rPr lang="en-US" sz="3600" b="1" dirty="0">
                <a:solidFill>
                  <a:srgbClr val="F7B600"/>
                </a:solidFill>
                <a:latin typeface="Calibri" pitchFamily="34" charset="0"/>
                <a:ea typeface="Calibri" pitchFamily="34" charset="-122"/>
                <a:cs typeface="Calibri" pitchFamily="34" charset="-120"/>
              </a:rPr>
              <a:t>05</a:t>
            </a:r>
            <a:endParaRPr lang="en-US" sz="3600" dirty="0"/>
          </a:p>
        </p:txBody>
      </p:sp>
      <p:sp>
        <p:nvSpPr>
          <p:cNvPr id="23" name="Text 21"/>
          <p:cNvSpPr/>
          <p:nvPr/>
        </p:nvSpPr>
        <p:spPr>
          <a:xfrm>
            <a:off x="1554480" y="4736592"/>
            <a:ext cx="4297680" cy="411480"/>
          </a:xfrm>
          <a:prstGeom prst="rect">
            <a:avLst/>
          </a:prstGeom>
          <a:noFill/>
          <a:ln/>
        </p:spPr>
        <p:txBody>
          <a:bodyPr wrap="square" rtlCol="0" anchor="ctr"/>
          <a:lstStyle/>
          <a:p>
            <a:pPr indent="0" marL="0">
              <a:buNone/>
            </a:pPr>
            <a:r>
              <a:rPr lang="en-US" sz="1700" b="1" dirty="0">
                <a:solidFill>
                  <a:srgbClr val="1A1F71"/>
                </a:solidFill>
                <a:latin typeface="Calibri" pitchFamily="34" charset="0"/>
                <a:ea typeface="Calibri" pitchFamily="34" charset="-122"/>
                <a:cs typeface="Calibri" pitchFamily="34" charset="-120"/>
              </a:rPr>
              <a:t>Measurable Impact</a:t>
            </a:r>
            <a:endParaRPr lang="en-US" sz="1700" dirty="0"/>
          </a:p>
        </p:txBody>
      </p:sp>
      <p:sp>
        <p:nvSpPr>
          <p:cNvPr id="24" name="Text 22"/>
          <p:cNvSpPr/>
          <p:nvPr/>
        </p:nvSpPr>
        <p:spPr>
          <a:xfrm>
            <a:off x="1554480" y="5138928"/>
            <a:ext cx="4297680" cy="64008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Figures, benchmarks, and ROI from AI-driven prevention.</a:t>
            </a:r>
            <a:endParaRPr lang="en-US" sz="1200" dirty="0"/>
          </a:p>
        </p:txBody>
      </p:sp>
      <p:sp>
        <p:nvSpPr>
          <p:cNvPr id="25" name="Shape 23"/>
          <p:cNvSpPr/>
          <p:nvPr/>
        </p:nvSpPr>
        <p:spPr>
          <a:xfrm>
            <a:off x="6217920" y="4572000"/>
            <a:ext cx="5486400" cy="1234440"/>
          </a:xfrm>
          <a:prstGeom prst="roundRect">
            <a:avLst>
              <a:gd name="adj" fmla="val 7407"/>
            </a:avLst>
          </a:prstGeom>
          <a:solidFill>
            <a:srgbClr val="FFFFFF"/>
          </a:solidFill>
          <a:ln w="12700">
            <a:solidFill>
              <a:srgbClr val="E3E7F1"/>
            </a:solidFill>
            <a:prstDash val="solid"/>
          </a:ln>
        </p:spPr>
      </p:sp>
      <p:sp>
        <p:nvSpPr>
          <p:cNvPr id="26" name="Text 24"/>
          <p:cNvSpPr/>
          <p:nvPr/>
        </p:nvSpPr>
        <p:spPr>
          <a:xfrm>
            <a:off x="6400800" y="4754880"/>
            <a:ext cx="822960" cy="868680"/>
          </a:xfrm>
          <a:prstGeom prst="rect">
            <a:avLst/>
          </a:prstGeom>
          <a:noFill/>
          <a:ln/>
        </p:spPr>
        <p:txBody>
          <a:bodyPr wrap="square" rtlCol="0" anchor="ctr"/>
          <a:lstStyle/>
          <a:p>
            <a:pPr indent="0" marL="0">
              <a:buNone/>
            </a:pPr>
            <a:r>
              <a:rPr lang="en-US" sz="3600" b="1" dirty="0">
                <a:solidFill>
                  <a:srgbClr val="F7B600"/>
                </a:solidFill>
                <a:latin typeface="Calibri" pitchFamily="34" charset="0"/>
                <a:ea typeface="Calibri" pitchFamily="34" charset="-122"/>
                <a:cs typeface="Calibri" pitchFamily="34" charset="-120"/>
              </a:rPr>
              <a:t>06</a:t>
            </a:r>
            <a:endParaRPr lang="en-US" sz="3600" dirty="0"/>
          </a:p>
        </p:txBody>
      </p:sp>
      <p:sp>
        <p:nvSpPr>
          <p:cNvPr id="27" name="Text 25"/>
          <p:cNvSpPr/>
          <p:nvPr/>
        </p:nvSpPr>
        <p:spPr>
          <a:xfrm>
            <a:off x="7315200" y="4736592"/>
            <a:ext cx="4297680" cy="411480"/>
          </a:xfrm>
          <a:prstGeom prst="rect">
            <a:avLst/>
          </a:prstGeom>
          <a:noFill/>
          <a:ln/>
        </p:spPr>
        <p:txBody>
          <a:bodyPr wrap="square" rtlCol="0" anchor="ctr"/>
          <a:lstStyle/>
          <a:p>
            <a:pPr indent="0" marL="0">
              <a:buNone/>
            </a:pPr>
            <a:r>
              <a:rPr lang="en-US" sz="1700" b="1" dirty="0">
                <a:solidFill>
                  <a:srgbClr val="1A1F71"/>
                </a:solidFill>
                <a:latin typeface="Calibri" pitchFamily="34" charset="0"/>
                <a:ea typeface="Calibri" pitchFamily="34" charset="-122"/>
                <a:cs typeface="Calibri" pitchFamily="34" charset="-120"/>
              </a:rPr>
              <a:t>Roadmap &amp; Next Steps</a:t>
            </a:r>
            <a:endParaRPr lang="en-US" sz="1700" dirty="0"/>
          </a:p>
        </p:txBody>
      </p:sp>
      <p:sp>
        <p:nvSpPr>
          <p:cNvPr id="28" name="Text 26"/>
          <p:cNvSpPr/>
          <p:nvPr/>
        </p:nvSpPr>
        <p:spPr>
          <a:xfrm>
            <a:off x="7315200" y="5138928"/>
            <a:ext cx="4297680" cy="64008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Where Visa is taking fraud prevention next.</a:t>
            </a:r>
            <a:endParaRPr lang="en-US" sz="12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01  •  THE LANDSCAPE</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Global payments fraud is scaling fast</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691640"/>
            <a:ext cx="3657600" cy="1828800"/>
          </a:xfrm>
          <a:prstGeom prst="roundRect">
            <a:avLst>
              <a:gd name="adj" fmla="val 5000"/>
            </a:avLst>
          </a:prstGeom>
          <a:solidFill>
            <a:srgbClr val="FFFFFF"/>
          </a:solidFill>
          <a:ln w="12700">
            <a:solidFill>
              <a:srgbClr val="E3E7F1"/>
            </a:solidFill>
            <a:prstDash val="solid"/>
          </a:ln>
        </p:spPr>
      </p:sp>
      <p:sp>
        <p:nvSpPr>
          <p:cNvPr id="6" name="Shape 4"/>
          <p:cNvSpPr/>
          <p:nvPr/>
        </p:nvSpPr>
        <p:spPr>
          <a:xfrm>
            <a:off x="457200" y="1691640"/>
            <a:ext cx="109728" cy="1828800"/>
          </a:xfrm>
          <a:prstGeom prst="rect">
            <a:avLst/>
          </a:prstGeom>
          <a:solidFill>
            <a:srgbClr val="1A1F71"/>
          </a:solidFill>
          <a:ln w="12700">
            <a:solidFill>
              <a:srgbClr val="1A1F71"/>
            </a:solidFill>
            <a:prstDash val="solid"/>
          </a:ln>
        </p:spPr>
      </p:sp>
      <p:sp>
        <p:nvSpPr>
          <p:cNvPr id="7" name="Text 5"/>
          <p:cNvSpPr/>
          <p:nvPr/>
        </p:nvSpPr>
        <p:spPr>
          <a:xfrm>
            <a:off x="731520" y="1828800"/>
            <a:ext cx="3291840" cy="822960"/>
          </a:xfrm>
          <a:prstGeom prst="rect">
            <a:avLst/>
          </a:prstGeom>
          <a:noFill/>
          <a:ln/>
        </p:spPr>
        <p:txBody>
          <a:bodyPr wrap="square" rtlCol="0" anchor="ctr"/>
          <a:lstStyle/>
          <a:p>
            <a:pPr indent="0" marL="0">
              <a:buNone/>
            </a:pPr>
            <a:r>
              <a:rPr lang="en-US" sz="4000" b="1" dirty="0">
                <a:solidFill>
                  <a:srgbClr val="1A1F71"/>
                </a:solidFill>
                <a:latin typeface="Calibri" pitchFamily="34" charset="0"/>
                <a:ea typeface="Calibri" pitchFamily="34" charset="-122"/>
                <a:cs typeface="Calibri" pitchFamily="34" charset="-120"/>
              </a:rPr>
              <a:t>$ 41B</a:t>
            </a:r>
            <a:endParaRPr lang="en-US" sz="4000" dirty="0"/>
          </a:p>
        </p:txBody>
      </p:sp>
      <p:sp>
        <p:nvSpPr>
          <p:cNvPr id="8" name="Text 6"/>
          <p:cNvSpPr/>
          <p:nvPr/>
        </p:nvSpPr>
        <p:spPr>
          <a:xfrm>
            <a:off x="731520" y="2697480"/>
            <a:ext cx="3291840" cy="77724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Global card fraud losses in 2022, projected to reach $43B by 2026</a:t>
            </a:r>
            <a:endParaRPr lang="en-US" sz="1200" dirty="0"/>
          </a:p>
        </p:txBody>
      </p:sp>
      <p:sp>
        <p:nvSpPr>
          <p:cNvPr id="9" name="Shape 7"/>
          <p:cNvSpPr/>
          <p:nvPr/>
        </p:nvSpPr>
        <p:spPr>
          <a:xfrm>
            <a:off x="4343400" y="1691640"/>
            <a:ext cx="3657600" cy="1828800"/>
          </a:xfrm>
          <a:prstGeom prst="roundRect">
            <a:avLst>
              <a:gd name="adj" fmla="val 5000"/>
            </a:avLst>
          </a:prstGeom>
          <a:solidFill>
            <a:srgbClr val="FFFFFF"/>
          </a:solidFill>
          <a:ln w="12700">
            <a:solidFill>
              <a:srgbClr val="E3E7F1"/>
            </a:solidFill>
            <a:prstDash val="solid"/>
          </a:ln>
        </p:spPr>
      </p:sp>
      <p:sp>
        <p:nvSpPr>
          <p:cNvPr id="10" name="Shape 8"/>
          <p:cNvSpPr/>
          <p:nvPr/>
        </p:nvSpPr>
        <p:spPr>
          <a:xfrm>
            <a:off x="4343400" y="1691640"/>
            <a:ext cx="109728" cy="1828800"/>
          </a:xfrm>
          <a:prstGeom prst="rect">
            <a:avLst/>
          </a:prstGeom>
          <a:solidFill>
            <a:srgbClr val="F7B600"/>
          </a:solidFill>
          <a:ln w="12700">
            <a:solidFill>
              <a:srgbClr val="F7B600"/>
            </a:solidFill>
            <a:prstDash val="solid"/>
          </a:ln>
        </p:spPr>
      </p:sp>
      <p:sp>
        <p:nvSpPr>
          <p:cNvPr id="11" name="Text 9"/>
          <p:cNvSpPr/>
          <p:nvPr/>
        </p:nvSpPr>
        <p:spPr>
          <a:xfrm>
            <a:off x="4617720" y="1828800"/>
            <a:ext cx="3291840" cy="822960"/>
          </a:xfrm>
          <a:prstGeom prst="rect">
            <a:avLst/>
          </a:prstGeom>
          <a:noFill/>
          <a:ln/>
        </p:spPr>
        <p:txBody>
          <a:bodyPr wrap="square" rtlCol="0" anchor="ctr"/>
          <a:lstStyle/>
          <a:p>
            <a:pPr indent="0" marL="0">
              <a:buNone/>
            </a:pPr>
            <a:r>
              <a:rPr lang="en-US" sz="4000" b="1" dirty="0">
                <a:solidFill>
                  <a:srgbClr val="F7B600"/>
                </a:solidFill>
                <a:latin typeface="Calibri" pitchFamily="34" charset="0"/>
                <a:ea typeface="Calibri" pitchFamily="34" charset="-122"/>
                <a:cs typeface="Calibri" pitchFamily="34" charset="-120"/>
              </a:rPr>
              <a:t>+ 25%</a:t>
            </a:r>
            <a:endParaRPr lang="en-US" sz="4000" dirty="0"/>
          </a:p>
        </p:txBody>
      </p:sp>
      <p:sp>
        <p:nvSpPr>
          <p:cNvPr id="12" name="Text 10"/>
          <p:cNvSpPr/>
          <p:nvPr/>
        </p:nvSpPr>
        <p:spPr>
          <a:xfrm>
            <a:off x="4617720" y="2697480"/>
            <a:ext cx="3291840" cy="77724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Year-on-year growth in card-not-present (CNP) fraud attempts</a:t>
            </a:r>
            <a:endParaRPr lang="en-US" sz="1200" dirty="0"/>
          </a:p>
        </p:txBody>
      </p:sp>
      <p:sp>
        <p:nvSpPr>
          <p:cNvPr id="13" name="Shape 11"/>
          <p:cNvSpPr/>
          <p:nvPr/>
        </p:nvSpPr>
        <p:spPr>
          <a:xfrm>
            <a:off x="8229600" y="1691640"/>
            <a:ext cx="3657600" cy="1828800"/>
          </a:xfrm>
          <a:prstGeom prst="roundRect">
            <a:avLst>
              <a:gd name="adj" fmla="val 5000"/>
            </a:avLst>
          </a:prstGeom>
          <a:solidFill>
            <a:srgbClr val="FFFFFF"/>
          </a:solidFill>
          <a:ln w="12700">
            <a:solidFill>
              <a:srgbClr val="E3E7F1"/>
            </a:solidFill>
            <a:prstDash val="solid"/>
          </a:ln>
        </p:spPr>
      </p:sp>
      <p:sp>
        <p:nvSpPr>
          <p:cNvPr id="14" name="Shape 12"/>
          <p:cNvSpPr/>
          <p:nvPr/>
        </p:nvSpPr>
        <p:spPr>
          <a:xfrm>
            <a:off x="8229600" y="1691640"/>
            <a:ext cx="109728" cy="1828800"/>
          </a:xfrm>
          <a:prstGeom prst="rect">
            <a:avLst/>
          </a:prstGeom>
          <a:solidFill>
            <a:srgbClr val="2A3FA0"/>
          </a:solidFill>
          <a:ln w="12700">
            <a:solidFill>
              <a:srgbClr val="2A3FA0"/>
            </a:solidFill>
            <a:prstDash val="solid"/>
          </a:ln>
        </p:spPr>
      </p:sp>
      <p:sp>
        <p:nvSpPr>
          <p:cNvPr id="15" name="Text 13"/>
          <p:cNvSpPr/>
          <p:nvPr/>
        </p:nvSpPr>
        <p:spPr>
          <a:xfrm>
            <a:off x="8503920" y="1828800"/>
            <a:ext cx="3291840" cy="822960"/>
          </a:xfrm>
          <a:prstGeom prst="rect">
            <a:avLst/>
          </a:prstGeom>
          <a:noFill/>
          <a:ln/>
        </p:spPr>
        <p:txBody>
          <a:bodyPr wrap="square" rtlCol="0" anchor="ctr"/>
          <a:lstStyle/>
          <a:p>
            <a:pPr indent="0" marL="0">
              <a:buNone/>
            </a:pPr>
            <a:r>
              <a:rPr lang="en-US" sz="4000" b="1" dirty="0">
                <a:solidFill>
                  <a:srgbClr val="2A3FA0"/>
                </a:solidFill>
                <a:latin typeface="Calibri" pitchFamily="34" charset="0"/>
                <a:ea typeface="Calibri" pitchFamily="34" charset="-122"/>
                <a:cs typeface="Calibri" pitchFamily="34" charset="-120"/>
              </a:rPr>
              <a:t>1 in 4</a:t>
            </a:r>
            <a:endParaRPr lang="en-US" sz="4000" dirty="0"/>
          </a:p>
        </p:txBody>
      </p:sp>
      <p:sp>
        <p:nvSpPr>
          <p:cNvPr id="16" name="Text 14"/>
          <p:cNvSpPr/>
          <p:nvPr/>
        </p:nvSpPr>
        <p:spPr>
          <a:xfrm>
            <a:off x="8503920" y="2697480"/>
            <a:ext cx="3291840" cy="777240"/>
          </a:xfrm>
          <a:prstGeom prst="rect">
            <a:avLst/>
          </a:prstGeom>
          <a:noFill/>
          <a:ln/>
        </p:spPr>
        <p:txBody>
          <a:bodyPr wrap="square" rtlCol="0" anchor="ctr"/>
          <a:lstStyle/>
          <a:p>
            <a:pPr indent="0" marL="0">
              <a:buNone/>
            </a:pPr>
            <a:r>
              <a:rPr lang="en-US" sz="1200" dirty="0">
                <a:solidFill>
                  <a:srgbClr val="5A6385"/>
                </a:solidFill>
                <a:latin typeface="Calibri" pitchFamily="34" charset="0"/>
                <a:ea typeface="Calibri" pitchFamily="34" charset="-122"/>
                <a:cs typeface="Calibri" pitchFamily="34" charset="-120"/>
              </a:rPr>
              <a:t>Consumers experienced payment fraud in the last 12 months</a:t>
            </a:r>
            <a:endParaRPr lang="en-US" sz="1200" dirty="0"/>
          </a:p>
        </p:txBody>
      </p:sp>
      <p:sp>
        <p:nvSpPr>
          <p:cNvPr id="17" name="Text 15"/>
          <p:cNvSpPr/>
          <p:nvPr/>
        </p:nvSpPr>
        <p:spPr>
          <a:xfrm>
            <a:off x="457200" y="3749040"/>
            <a:ext cx="10972800" cy="365760"/>
          </a:xfrm>
          <a:prstGeom prst="rect">
            <a:avLst/>
          </a:prstGeom>
          <a:noFill/>
          <a:ln/>
        </p:spPr>
        <p:txBody>
          <a:bodyPr wrap="square" rtlCol="0" anchor="ctr"/>
          <a:lstStyle/>
          <a:p>
            <a:pPr indent="0" marL="0">
              <a:buNone/>
            </a:pPr>
            <a:r>
              <a:rPr lang="en-US" sz="1600" b="1" dirty="0">
                <a:solidFill>
                  <a:srgbClr val="1A1F71"/>
                </a:solidFill>
                <a:latin typeface="Calibri" pitchFamily="34" charset="0"/>
                <a:ea typeface="Calibri" pitchFamily="34" charset="-122"/>
                <a:cs typeface="Calibri" pitchFamily="34" charset="-120"/>
              </a:rPr>
              <a:t>Top threat vectors today</a:t>
            </a:r>
            <a:endParaRPr lang="en-US" sz="1600" dirty="0"/>
          </a:p>
        </p:txBody>
      </p:sp>
      <p:sp>
        <p:nvSpPr>
          <p:cNvPr id="18" name="Shape 16"/>
          <p:cNvSpPr/>
          <p:nvPr/>
        </p:nvSpPr>
        <p:spPr>
          <a:xfrm>
            <a:off x="457200" y="4160520"/>
            <a:ext cx="5486400" cy="914400"/>
          </a:xfrm>
          <a:prstGeom prst="roundRect">
            <a:avLst>
              <a:gd name="adj" fmla="val 8000"/>
            </a:avLst>
          </a:prstGeom>
          <a:solidFill>
            <a:srgbClr val="FFFFFF"/>
          </a:solidFill>
          <a:ln w="12700">
            <a:solidFill>
              <a:srgbClr val="E3E7F1"/>
            </a:solidFill>
            <a:prstDash val="solid"/>
          </a:ln>
        </p:spPr>
      </p:sp>
      <p:sp>
        <p:nvSpPr>
          <p:cNvPr id="19" name="Shape 17"/>
          <p:cNvSpPr/>
          <p:nvPr/>
        </p:nvSpPr>
        <p:spPr>
          <a:xfrm>
            <a:off x="640080" y="4434840"/>
            <a:ext cx="365760" cy="365760"/>
          </a:xfrm>
          <a:prstGeom prst="ellipse">
            <a:avLst/>
          </a:prstGeom>
          <a:solidFill>
            <a:srgbClr val="F7B600"/>
          </a:solidFill>
          <a:ln w="12700">
            <a:solidFill>
              <a:srgbClr val="F7B600"/>
            </a:solidFill>
            <a:prstDash val="solid"/>
          </a:ln>
        </p:spPr>
      </p:sp>
      <p:sp>
        <p:nvSpPr>
          <p:cNvPr id="20" name="Text 18"/>
          <p:cNvSpPr/>
          <p:nvPr/>
        </p:nvSpPr>
        <p:spPr>
          <a:xfrm>
            <a:off x="640080" y="4434840"/>
            <a:ext cx="365760" cy="365760"/>
          </a:xfrm>
          <a:prstGeom prst="rect">
            <a:avLst/>
          </a:prstGeom>
          <a:noFill/>
          <a:ln/>
        </p:spPr>
        <p:txBody>
          <a:bodyPr wrap="square" rtlCol="0" anchor="ctr"/>
          <a:lstStyle/>
          <a:p>
            <a:pPr algn="ctr" indent="0" marL="0">
              <a:buNone/>
            </a:pPr>
            <a:r>
              <a:rPr lang="en-US" sz="1400" b="1" dirty="0">
                <a:solidFill>
                  <a:srgbClr val="1A1F71"/>
                </a:solidFill>
                <a:latin typeface="Calibri" pitchFamily="34" charset="0"/>
                <a:ea typeface="Calibri" pitchFamily="34" charset="-122"/>
                <a:cs typeface="Calibri" pitchFamily="34" charset="-120"/>
              </a:rPr>
              <a:t>1</a:t>
            </a:r>
            <a:endParaRPr lang="en-US" sz="1400" dirty="0"/>
          </a:p>
        </p:txBody>
      </p:sp>
      <p:sp>
        <p:nvSpPr>
          <p:cNvPr id="21" name="Text 19"/>
          <p:cNvSpPr/>
          <p:nvPr/>
        </p:nvSpPr>
        <p:spPr>
          <a:xfrm>
            <a:off x="1143000" y="4270248"/>
            <a:ext cx="46634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Account takeover (ATO)</a:t>
            </a:r>
            <a:endParaRPr lang="en-US" sz="1400" dirty="0"/>
          </a:p>
        </p:txBody>
      </p:sp>
      <p:sp>
        <p:nvSpPr>
          <p:cNvPr id="22" name="Text 20"/>
          <p:cNvSpPr/>
          <p:nvPr/>
        </p:nvSpPr>
        <p:spPr>
          <a:xfrm>
            <a:off x="1143000" y="4617720"/>
            <a:ext cx="466344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Credential stuffing + phishing power 60% of fraud incidents.</a:t>
            </a:r>
            <a:endParaRPr lang="en-US" sz="1100" dirty="0"/>
          </a:p>
        </p:txBody>
      </p:sp>
      <p:sp>
        <p:nvSpPr>
          <p:cNvPr id="23" name="Shape 21"/>
          <p:cNvSpPr/>
          <p:nvPr/>
        </p:nvSpPr>
        <p:spPr>
          <a:xfrm>
            <a:off x="6217920" y="4160520"/>
            <a:ext cx="5486400" cy="914400"/>
          </a:xfrm>
          <a:prstGeom prst="roundRect">
            <a:avLst>
              <a:gd name="adj" fmla="val 8000"/>
            </a:avLst>
          </a:prstGeom>
          <a:solidFill>
            <a:srgbClr val="FFFFFF"/>
          </a:solidFill>
          <a:ln w="12700">
            <a:solidFill>
              <a:srgbClr val="E3E7F1"/>
            </a:solidFill>
            <a:prstDash val="solid"/>
          </a:ln>
        </p:spPr>
      </p:sp>
      <p:sp>
        <p:nvSpPr>
          <p:cNvPr id="24" name="Shape 22"/>
          <p:cNvSpPr/>
          <p:nvPr/>
        </p:nvSpPr>
        <p:spPr>
          <a:xfrm>
            <a:off x="6400800" y="4434840"/>
            <a:ext cx="365760" cy="365760"/>
          </a:xfrm>
          <a:prstGeom prst="ellipse">
            <a:avLst/>
          </a:prstGeom>
          <a:solidFill>
            <a:srgbClr val="F7B600"/>
          </a:solidFill>
          <a:ln w="12700">
            <a:solidFill>
              <a:srgbClr val="F7B600"/>
            </a:solidFill>
            <a:prstDash val="solid"/>
          </a:ln>
        </p:spPr>
      </p:sp>
      <p:sp>
        <p:nvSpPr>
          <p:cNvPr id="25" name="Text 23"/>
          <p:cNvSpPr/>
          <p:nvPr/>
        </p:nvSpPr>
        <p:spPr>
          <a:xfrm>
            <a:off x="6400800" y="4434840"/>
            <a:ext cx="365760" cy="365760"/>
          </a:xfrm>
          <a:prstGeom prst="rect">
            <a:avLst/>
          </a:prstGeom>
          <a:noFill/>
          <a:ln/>
        </p:spPr>
        <p:txBody>
          <a:bodyPr wrap="square" rtlCol="0" anchor="ctr"/>
          <a:lstStyle/>
          <a:p>
            <a:pPr algn="ctr" indent="0" marL="0">
              <a:buNone/>
            </a:pPr>
            <a:r>
              <a:rPr lang="en-US" sz="1400" b="1" dirty="0">
                <a:solidFill>
                  <a:srgbClr val="1A1F71"/>
                </a:solidFill>
                <a:latin typeface="Calibri" pitchFamily="34" charset="0"/>
                <a:ea typeface="Calibri" pitchFamily="34" charset="-122"/>
                <a:cs typeface="Calibri" pitchFamily="34" charset="-120"/>
              </a:rPr>
              <a:t>2</a:t>
            </a:r>
            <a:endParaRPr lang="en-US" sz="1400" dirty="0"/>
          </a:p>
        </p:txBody>
      </p:sp>
      <p:sp>
        <p:nvSpPr>
          <p:cNvPr id="26" name="Text 24"/>
          <p:cNvSpPr/>
          <p:nvPr/>
        </p:nvSpPr>
        <p:spPr>
          <a:xfrm>
            <a:off x="6903720" y="4270248"/>
            <a:ext cx="46634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Synthetic identity fraud</a:t>
            </a:r>
            <a:endParaRPr lang="en-US" sz="1400" dirty="0"/>
          </a:p>
        </p:txBody>
      </p:sp>
      <p:sp>
        <p:nvSpPr>
          <p:cNvPr id="27" name="Text 25"/>
          <p:cNvSpPr/>
          <p:nvPr/>
        </p:nvSpPr>
        <p:spPr>
          <a:xfrm>
            <a:off x="6903720" y="4617720"/>
            <a:ext cx="466344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Fastest-growing fraud type; ~$5B+ losses per year in the US.</a:t>
            </a:r>
            <a:endParaRPr lang="en-US" sz="1100" dirty="0"/>
          </a:p>
        </p:txBody>
      </p:sp>
      <p:sp>
        <p:nvSpPr>
          <p:cNvPr id="28" name="Shape 26"/>
          <p:cNvSpPr/>
          <p:nvPr/>
        </p:nvSpPr>
        <p:spPr>
          <a:xfrm>
            <a:off x="457200" y="5212080"/>
            <a:ext cx="5486400" cy="914400"/>
          </a:xfrm>
          <a:prstGeom prst="roundRect">
            <a:avLst>
              <a:gd name="adj" fmla="val 8000"/>
            </a:avLst>
          </a:prstGeom>
          <a:solidFill>
            <a:srgbClr val="FFFFFF"/>
          </a:solidFill>
          <a:ln w="12700">
            <a:solidFill>
              <a:srgbClr val="E3E7F1"/>
            </a:solidFill>
            <a:prstDash val="solid"/>
          </a:ln>
        </p:spPr>
      </p:sp>
      <p:sp>
        <p:nvSpPr>
          <p:cNvPr id="29" name="Shape 27"/>
          <p:cNvSpPr/>
          <p:nvPr/>
        </p:nvSpPr>
        <p:spPr>
          <a:xfrm>
            <a:off x="640080" y="5486400"/>
            <a:ext cx="365760" cy="365760"/>
          </a:xfrm>
          <a:prstGeom prst="ellipse">
            <a:avLst/>
          </a:prstGeom>
          <a:solidFill>
            <a:srgbClr val="F7B600"/>
          </a:solidFill>
          <a:ln w="12700">
            <a:solidFill>
              <a:srgbClr val="F7B600"/>
            </a:solidFill>
            <a:prstDash val="solid"/>
          </a:ln>
        </p:spPr>
      </p:sp>
      <p:sp>
        <p:nvSpPr>
          <p:cNvPr id="30" name="Text 28"/>
          <p:cNvSpPr/>
          <p:nvPr/>
        </p:nvSpPr>
        <p:spPr>
          <a:xfrm>
            <a:off x="640080" y="5486400"/>
            <a:ext cx="365760" cy="365760"/>
          </a:xfrm>
          <a:prstGeom prst="rect">
            <a:avLst/>
          </a:prstGeom>
          <a:noFill/>
          <a:ln/>
        </p:spPr>
        <p:txBody>
          <a:bodyPr wrap="square" rtlCol="0" anchor="ctr"/>
          <a:lstStyle/>
          <a:p>
            <a:pPr algn="ctr" indent="0" marL="0">
              <a:buNone/>
            </a:pPr>
            <a:r>
              <a:rPr lang="en-US" sz="1400" b="1" dirty="0">
                <a:solidFill>
                  <a:srgbClr val="1A1F71"/>
                </a:solidFill>
                <a:latin typeface="Calibri" pitchFamily="34" charset="0"/>
                <a:ea typeface="Calibri" pitchFamily="34" charset="-122"/>
                <a:cs typeface="Calibri" pitchFamily="34" charset="-120"/>
              </a:rPr>
              <a:t>3</a:t>
            </a:r>
            <a:endParaRPr lang="en-US" sz="1400" dirty="0"/>
          </a:p>
        </p:txBody>
      </p:sp>
      <p:sp>
        <p:nvSpPr>
          <p:cNvPr id="31" name="Text 29"/>
          <p:cNvSpPr/>
          <p:nvPr/>
        </p:nvSpPr>
        <p:spPr>
          <a:xfrm>
            <a:off x="1143000" y="5321808"/>
            <a:ext cx="46634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Card-not-present (CNP)</a:t>
            </a:r>
            <a:endParaRPr lang="en-US" sz="1400" dirty="0"/>
          </a:p>
        </p:txBody>
      </p:sp>
      <p:sp>
        <p:nvSpPr>
          <p:cNvPr id="32" name="Text 30"/>
          <p:cNvSpPr/>
          <p:nvPr/>
        </p:nvSpPr>
        <p:spPr>
          <a:xfrm>
            <a:off x="1143000" y="5669280"/>
            <a:ext cx="466344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~70% of all card fraud is now CNP — driven by ecommerce growth.</a:t>
            </a:r>
            <a:endParaRPr lang="en-US" sz="1100" dirty="0"/>
          </a:p>
        </p:txBody>
      </p:sp>
      <p:sp>
        <p:nvSpPr>
          <p:cNvPr id="33" name="Shape 31"/>
          <p:cNvSpPr/>
          <p:nvPr/>
        </p:nvSpPr>
        <p:spPr>
          <a:xfrm>
            <a:off x="6217920" y="5212080"/>
            <a:ext cx="5486400" cy="914400"/>
          </a:xfrm>
          <a:prstGeom prst="roundRect">
            <a:avLst>
              <a:gd name="adj" fmla="val 8000"/>
            </a:avLst>
          </a:prstGeom>
          <a:solidFill>
            <a:srgbClr val="FFFFFF"/>
          </a:solidFill>
          <a:ln w="12700">
            <a:solidFill>
              <a:srgbClr val="E3E7F1"/>
            </a:solidFill>
            <a:prstDash val="solid"/>
          </a:ln>
        </p:spPr>
      </p:sp>
      <p:sp>
        <p:nvSpPr>
          <p:cNvPr id="34" name="Shape 32"/>
          <p:cNvSpPr/>
          <p:nvPr/>
        </p:nvSpPr>
        <p:spPr>
          <a:xfrm>
            <a:off x="6400800" y="5486400"/>
            <a:ext cx="365760" cy="365760"/>
          </a:xfrm>
          <a:prstGeom prst="ellipse">
            <a:avLst/>
          </a:prstGeom>
          <a:solidFill>
            <a:srgbClr val="F7B600"/>
          </a:solidFill>
          <a:ln w="12700">
            <a:solidFill>
              <a:srgbClr val="F7B600"/>
            </a:solidFill>
            <a:prstDash val="solid"/>
          </a:ln>
        </p:spPr>
      </p:sp>
      <p:sp>
        <p:nvSpPr>
          <p:cNvPr id="35" name="Text 33"/>
          <p:cNvSpPr/>
          <p:nvPr/>
        </p:nvSpPr>
        <p:spPr>
          <a:xfrm>
            <a:off x="6400800" y="5486400"/>
            <a:ext cx="365760" cy="365760"/>
          </a:xfrm>
          <a:prstGeom prst="rect">
            <a:avLst/>
          </a:prstGeom>
          <a:noFill/>
          <a:ln/>
        </p:spPr>
        <p:txBody>
          <a:bodyPr wrap="square" rtlCol="0" anchor="ctr"/>
          <a:lstStyle/>
          <a:p>
            <a:pPr algn="ctr" indent="0" marL="0">
              <a:buNone/>
            </a:pPr>
            <a:r>
              <a:rPr lang="en-US" sz="1400" b="1" dirty="0">
                <a:solidFill>
                  <a:srgbClr val="1A1F71"/>
                </a:solidFill>
                <a:latin typeface="Calibri" pitchFamily="34" charset="0"/>
                <a:ea typeface="Calibri" pitchFamily="34" charset="-122"/>
                <a:cs typeface="Calibri" pitchFamily="34" charset="-120"/>
              </a:rPr>
              <a:t>4</a:t>
            </a:r>
            <a:endParaRPr lang="en-US" sz="1400" dirty="0"/>
          </a:p>
        </p:txBody>
      </p:sp>
      <p:sp>
        <p:nvSpPr>
          <p:cNvPr id="36" name="Text 34"/>
          <p:cNvSpPr/>
          <p:nvPr/>
        </p:nvSpPr>
        <p:spPr>
          <a:xfrm>
            <a:off x="6903720" y="5321808"/>
            <a:ext cx="46634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Real-time payment scams</a:t>
            </a:r>
            <a:endParaRPr lang="en-US" sz="1400" dirty="0"/>
          </a:p>
        </p:txBody>
      </p:sp>
      <p:sp>
        <p:nvSpPr>
          <p:cNvPr id="37" name="Text 35"/>
          <p:cNvSpPr/>
          <p:nvPr/>
        </p:nvSpPr>
        <p:spPr>
          <a:xfrm>
            <a:off x="6903720" y="5669280"/>
            <a:ext cx="466344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Authorized push payment (APP) fraud up sharply across regions.</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02  •  PRODUCT SPOTLIGHT</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Visa Decision Manager</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691640"/>
            <a:ext cx="5120640" cy="4572000"/>
          </a:xfrm>
          <a:prstGeom prst="roundRect">
            <a:avLst>
              <a:gd name="adj" fmla="val 2400"/>
            </a:avLst>
          </a:prstGeom>
          <a:solidFill>
            <a:srgbClr val="1A1F71"/>
          </a:solidFill>
          <a:ln w="12700">
            <a:solidFill>
              <a:srgbClr val="1A1F71"/>
            </a:solidFill>
            <a:prstDash val="solid"/>
          </a:ln>
        </p:spPr>
      </p:sp>
      <p:sp>
        <p:nvSpPr>
          <p:cNvPr id="6" name="Text 4"/>
          <p:cNvSpPr/>
          <p:nvPr/>
        </p:nvSpPr>
        <p:spPr>
          <a:xfrm>
            <a:off x="685800" y="1874520"/>
            <a:ext cx="1828800" cy="457200"/>
          </a:xfrm>
          <a:prstGeom prst="rect">
            <a:avLst/>
          </a:prstGeom>
          <a:noFill/>
          <a:ln/>
        </p:spPr>
        <p:txBody>
          <a:bodyPr wrap="square" rtlCol="0" anchor="ctr"/>
          <a:lstStyle/>
          <a:p>
            <a:pPr indent="0" marL="0">
              <a:buNone/>
            </a:pPr>
            <a:r>
              <a:rPr lang="en-US" sz="2200" b="1" i="1" spc="400" kern="0" dirty="0">
                <a:solidFill>
                  <a:srgbClr val="FFFFFF"/>
                </a:solidFill>
                <a:latin typeface="Arial" pitchFamily="34" charset="0"/>
                <a:ea typeface="Arial" pitchFamily="34" charset="-122"/>
                <a:cs typeface="Arial" pitchFamily="34" charset="-120"/>
              </a:rPr>
              <a:t>VISA</a:t>
            </a:r>
            <a:endParaRPr lang="en-US" sz="2200" dirty="0"/>
          </a:p>
        </p:txBody>
      </p:sp>
      <p:sp>
        <p:nvSpPr>
          <p:cNvPr id="7" name="Text 5"/>
          <p:cNvSpPr/>
          <p:nvPr/>
        </p:nvSpPr>
        <p:spPr>
          <a:xfrm>
            <a:off x="685800" y="2286000"/>
            <a:ext cx="45720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Decision Manager</a:t>
            </a:r>
            <a:endParaRPr lang="en-US" sz="2600" dirty="0"/>
          </a:p>
        </p:txBody>
      </p:sp>
      <p:sp>
        <p:nvSpPr>
          <p:cNvPr id="8" name="Text 6"/>
          <p:cNvSpPr/>
          <p:nvPr/>
        </p:nvSpPr>
        <p:spPr>
          <a:xfrm>
            <a:off x="685800" y="2880360"/>
            <a:ext cx="4663440" cy="1188720"/>
          </a:xfrm>
          <a:prstGeom prst="rect">
            <a:avLst/>
          </a:prstGeom>
          <a:noFill/>
          <a:ln/>
        </p:spPr>
        <p:txBody>
          <a:bodyPr wrap="square" rtlCol="0" anchor="ctr"/>
          <a:lstStyle/>
          <a:p>
            <a:pPr indent="0" marL="0">
              <a:buNone/>
            </a:pPr>
            <a:r>
              <a:rPr lang="en-US" sz="1300" dirty="0">
                <a:solidFill>
                  <a:srgbClr val="C9D2F0"/>
                </a:solidFill>
                <a:latin typeface="Calibri" pitchFamily="34" charset="0"/>
                <a:ea typeface="Calibri" pitchFamily="34" charset="-122"/>
                <a:cs typeface="Calibri" pitchFamily="34" charset="-120"/>
              </a:rPr>
              <a:t>Visa's AI-powered fraud management platform that scores every transaction in real time using machine learning trained on global payments data.</a:t>
            </a:r>
            <a:endParaRPr lang="en-US" sz="1300" dirty="0"/>
          </a:p>
        </p:txBody>
      </p:sp>
      <p:sp>
        <p:nvSpPr>
          <p:cNvPr id="9" name="Shape 7"/>
          <p:cNvSpPr/>
          <p:nvPr/>
        </p:nvSpPr>
        <p:spPr>
          <a:xfrm>
            <a:off x="685800" y="4160520"/>
            <a:ext cx="2148840" cy="411480"/>
          </a:xfrm>
          <a:prstGeom prst="roundRect">
            <a:avLst>
              <a:gd name="adj" fmla="val 48889"/>
            </a:avLst>
          </a:prstGeom>
          <a:solidFill>
            <a:srgbClr val="2A3FA0"/>
          </a:solidFill>
          <a:ln w="12700">
            <a:solidFill>
              <a:srgbClr val="F7B600"/>
            </a:solidFill>
            <a:prstDash val="solid"/>
          </a:ln>
        </p:spPr>
      </p:sp>
      <p:sp>
        <p:nvSpPr>
          <p:cNvPr id="10" name="Text 8"/>
          <p:cNvSpPr/>
          <p:nvPr/>
        </p:nvSpPr>
        <p:spPr>
          <a:xfrm>
            <a:off x="685800" y="4160520"/>
            <a:ext cx="21488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260+ detectors</a:t>
            </a:r>
            <a:endParaRPr lang="en-US" sz="1100" dirty="0"/>
          </a:p>
        </p:txBody>
      </p:sp>
      <p:sp>
        <p:nvSpPr>
          <p:cNvPr id="11" name="Shape 9"/>
          <p:cNvSpPr/>
          <p:nvPr/>
        </p:nvSpPr>
        <p:spPr>
          <a:xfrm>
            <a:off x="2971800" y="4160520"/>
            <a:ext cx="2148840" cy="411480"/>
          </a:xfrm>
          <a:prstGeom prst="roundRect">
            <a:avLst>
              <a:gd name="adj" fmla="val 48889"/>
            </a:avLst>
          </a:prstGeom>
          <a:solidFill>
            <a:srgbClr val="2A3FA0"/>
          </a:solidFill>
          <a:ln w="12700">
            <a:solidFill>
              <a:srgbClr val="F7B600"/>
            </a:solidFill>
            <a:prstDash val="solid"/>
          </a:ln>
        </p:spPr>
      </p:sp>
      <p:sp>
        <p:nvSpPr>
          <p:cNvPr id="12" name="Text 10"/>
          <p:cNvSpPr/>
          <p:nvPr/>
        </p:nvSpPr>
        <p:spPr>
          <a:xfrm>
            <a:off x="2971800" y="4160520"/>
            <a:ext cx="21488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&lt;1 second decisioning</a:t>
            </a:r>
            <a:endParaRPr lang="en-US" sz="1100" dirty="0"/>
          </a:p>
        </p:txBody>
      </p:sp>
      <p:sp>
        <p:nvSpPr>
          <p:cNvPr id="13" name="Shape 11"/>
          <p:cNvSpPr/>
          <p:nvPr/>
        </p:nvSpPr>
        <p:spPr>
          <a:xfrm>
            <a:off x="685800" y="4709160"/>
            <a:ext cx="2148840" cy="411480"/>
          </a:xfrm>
          <a:prstGeom prst="roundRect">
            <a:avLst>
              <a:gd name="adj" fmla="val 48889"/>
            </a:avLst>
          </a:prstGeom>
          <a:solidFill>
            <a:srgbClr val="2A3FA0"/>
          </a:solidFill>
          <a:ln w="12700">
            <a:solidFill>
              <a:srgbClr val="F7B600"/>
            </a:solidFill>
            <a:prstDash val="solid"/>
          </a:ln>
        </p:spPr>
      </p:sp>
      <p:sp>
        <p:nvSpPr>
          <p:cNvPr id="14" name="Text 12"/>
          <p:cNvSpPr/>
          <p:nvPr/>
        </p:nvSpPr>
        <p:spPr>
          <a:xfrm>
            <a:off x="685800" y="4709160"/>
            <a:ext cx="21488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150+ countries</a:t>
            </a:r>
            <a:endParaRPr lang="en-US" sz="1100" dirty="0"/>
          </a:p>
        </p:txBody>
      </p:sp>
      <p:sp>
        <p:nvSpPr>
          <p:cNvPr id="15" name="Shape 13"/>
          <p:cNvSpPr/>
          <p:nvPr/>
        </p:nvSpPr>
        <p:spPr>
          <a:xfrm>
            <a:off x="2971800" y="4709160"/>
            <a:ext cx="2148840" cy="411480"/>
          </a:xfrm>
          <a:prstGeom prst="roundRect">
            <a:avLst>
              <a:gd name="adj" fmla="val 48889"/>
            </a:avLst>
          </a:prstGeom>
          <a:solidFill>
            <a:srgbClr val="2A3FA0"/>
          </a:solidFill>
          <a:ln w="12700">
            <a:solidFill>
              <a:srgbClr val="F7B600"/>
            </a:solidFill>
            <a:prstDash val="solid"/>
          </a:ln>
        </p:spPr>
      </p:sp>
      <p:sp>
        <p:nvSpPr>
          <p:cNvPr id="16" name="Text 14"/>
          <p:cNvSpPr/>
          <p:nvPr/>
        </p:nvSpPr>
        <p:spPr>
          <a:xfrm>
            <a:off x="2971800" y="4709160"/>
            <a:ext cx="21488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 rules engine</a:t>
            </a:r>
            <a:endParaRPr lang="en-US" sz="1100" dirty="0"/>
          </a:p>
        </p:txBody>
      </p:sp>
      <p:sp>
        <p:nvSpPr>
          <p:cNvPr id="17" name="Text 15"/>
          <p:cNvSpPr/>
          <p:nvPr/>
        </p:nvSpPr>
        <p:spPr>
          <a:xfrm>
            <a:off x="685800" y="5532120"/>
            <a:ext cx="4663440" cy="548640"/>
          </a:xfrm>
          <a:prstGeom prst="rect">
            <a:avLst/>
          </a:prstGeom>
          <a:noFill/>
          <a:ln/>
        </p:spPr>
        <p:txBody>
          <a:bodyPr wrap="square" rtlCol="0" anchor="ctr"/>
          <a:lstStyle/>
          <a:p>
            <a:pPr indent="0" marL="0">
              <a:buNone/>
            </a:pPr>
            <a:r>
              <a:rPr lang="en-US" sz="1100" i="1" dirty="0">
                <a:solidFill>
                  <a:srgbClr val="F7B600"/>
                </a:solidFill>
                <a:latin typeface="Calibri" pitchFamily="34" charset="0"/>
                <a:ea typeface="Calibri" pitchFamily="34" charset="-122"/>
                <a:cs typeface="Calibri" pitchFamily="34" charset="-120"/>
              </a:rPr>
              <a:t>Trusted by thousands of merchants, issuers, and acquirers worldwide.</a:t>
            </a:r>
            <a:endParaRPr lang="en-US" sz="1100" dirty="0"/>
          </a:p>
        </p:txBody>
      </p:sp>
      <p:sp>
        <p:nvSpPr>
          <p:cNvPr id="18" name="Text 16"/>
          <p:cNvSpPr/>
          <p:nvPr/>
        </p:nvSpPr>
        <p:spPr>
          <a:xfrm>
            <a:off x="5852160" y="1691640"/>
            <a:ext cx="5943600" cy="365760"/>
          </a:xfrm>
          <a:prstGeom prst="rect">
            <a:avLst/>
          </a:prstGeom>
          <a:noFill/>
          <a:ln/>
        </p:spPr>
        <p:txBody>
          <a:bodyPr wrap="square" rtlCol="0" anchor="ctr"/>
          <a:lstStyle/>
          <a:p>
            <a:pPr indent="0" marL="0">
              <a:buNone/>
            </a:pPr>
            <a:r>
              <a:rPr lang="en-US" sz="1600" b="1" dirty="0">
                <a:solidFill>
                  <a:srgbClr val="1A1F71"/>
                </a:solidFill>
                <a:latin typeface="Calibri" pitchFamily="34" charset="0"/>
                <a:ea typeface="Calibri" pitchFamily="34" charset="-122"/>
                <a:cs typeface="Calibri" pitchFamily="34" charset="-120"/>
              </a:rPr>
              <a:t>Core capabilities</a:t>
            </a:r>
            <a:endParaRPr lang="en-US" sz="1600" dirty="0"/>
          </a:p>
        </p:txBody>
      </p:sp>
      <p:sp>
        <p:nvSpPr>
          <p:cNvPr id="19" name="Shape 17"/>
          <p:cNvSpPr/>
          <p:nvPr/>
        </p:nvSpPr>
        <p:spPr>
          <a:xfrm>
            <a:off x="5852160" y="2103120"/>
            <a:ext cx="73152" cy="731520"/>
          </a:xfrm>
          <a:prstGeom prst="rect">
            <a:avLst/>
          </a:prstGeom>
          <a:solidFill>
            <a:srgbClr val="F7B600"/>
          </a:solidFill>
          <a:ln w="12700">
            <a:solidFill>
              <a:srgbClr val="F7B600"/>
            </a:solidFill>
            <a:prstDash val="solid"/>
          </a:ln>
        </p:spPr>
      </p:sp>
      <p:sp>
        <p:nvSpPr>
          <p:cNvPr id="20" name="Text 18"/>
          <p:cNvSpPr/>
          <p:nvPr/>
        </p:nvSpPr>
        <p:spPr>
          <a:xfrm>
            <a:off x="6035040" y="2084832"/>
            <a:ext cx="57607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Real-time risk scoring</a:t>
            </a:r>
            <a:endParaRPr lang="en-US" sz="1300" dirty="0"/>
          </a:p>
        </p:txBody>
      </p:sp>
      <p:sp>
        <p:nvSpPr>
          <p:cNvPr id="21" name="Text 19"/>
          <p:cNvSpPr/>
          <p:nvPr/>
        </p:nvSpPr>
        <p:spPr>
          <a:xfrm>
            <a:off x="6035040" y="2377440"/>
            <a:ext cx="5760720" cy="50292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Every transaction scored 0–99 in milliseconds using ML models trained on billions of data points.</a:t>
            </a:r>
            <a:endParaRPr lang="en-US" sz="1100" dirty="0"/>
          </a:p>
        </p:txBody>
      </p:sp>
      <p:sp>
        <p:nvSpPr>
          <p:cNvPr id="22" name="Shape 20"/>
          <p:cNvSpPr/>
          <p:nvPr/>
        </p:nvSpPr>
        <p:spPr>
          <a:xfrm>
            <a:off x="5852160" y="2944368"/>
            <a:ext cx="73152" cy="731520"/>
          </a:xfrm>
          <a:prstGeom prst="rect">
            <a:avLst/>
          </a:prstGeom>
          <a:solidFill>
            <a:srgbClr val="F7B600"/>
          </a:solidFill>
          <a:ln w="12700">
            <a:solidFill>
              <a:srgbClr val="F7B600"/>
            </a:solidFill>
            <a:prstDash val="solid"/>
          </a:ln>
        </p:spPr>
      </p:sp>
      <p:sp>
        <p:nvSpPr>
          <p:cNvPr id="23" name="Text 21"/>
          <p:cNvSpPr/>
          <p:nvPr/>
        </p:nvSpPr>
        <p:spPr>
          <a:xfrm>
            <a:off x="6035040" y="2926080"/>
            <a:ext cx="57607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Customizable rules engine</a:t>
            </a:r>
            <a:endParaRPr lang="en-US" sz="1300" dirty="0"/>
          </a:p>
        </p:txBody>
      </p:sp>
      <p:sp>
        <p:nvSpPr>
          <p:cNvPr id="24" name="Text 22"/>
          <p:cNvSpPr/>
          <p:nvPr/>
        </p:nvSpPr>
        <p:spPr>
          <a:xfrm>
            <a:off x="6035040" y="3218688"/>
            <a:ext cx="5760720" cy="50292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Combine Visa's AI scores with your own business rules, velocity checks, and watchlists.</a:t>
            </a:r>
            <a:endParaRPr lang="en-US" sz="1100" dirty="0"/>
          </a:p>
        </p:txBody>
      </p:sp>
      <p:sp>
        <p:nvSpPr>
          <p:cNvPr id="25" name="Shape 23"/>
          <p:cNvSpPr/>
          <p:nvPr/>
        </p:nvSpPr>
        <p:spPr>
          <a:xfrm>
            <a:off x="5852160" y="3785616"/>
            <a:ext cx="73152" cy="731520"/>
          </a:xfrm>
          <a:prstGeom prst="rect">
            <a:avLst/>
          </a:prstGeom>
          <a:solidFill>
            <a:srgbClr val="F7B600"/>
          </a:solidFill>
          <a:ln w="12700">
            <a:solidFill>
              <a:srgbClr val="F7B600"/>
            </a:solidFill>
            <a:prstDash val="solid"/>
          </a:ln>
        </p:spPr>
      </p:sp>
      <p:sp>
        <p:nvSpPr>
          <p:cNvPr id="26" name="Text 24"/>
          <p:cNvSpPr/>
          <p:nvPr/>
        </p:nvSpPr>
        <p:spPr>
          <a:xfrm>
            <a:off x="6035040" y="3767328"/>
            <a:ext cx="57607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Device fingerprinting</a:t>
            </a:r>
            <a:endParaRPr lang="en-US" sz="1300" dirty="0"/>
          </a:p>
        </p:txBody>
      </p:sp>
      <p:sp>
        <p:nvSpPr>
          <p:cNvPr id="27" name="Text 25"/>
          <p:cNvSpPr/>
          <p:nvPr/>
        </p:nvSpPr>
        <p:spPr>
          <a:xfrm>
            <a:off x="6035040" y="4059936"/>
            <a:ext cx="5760720" cy="50292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Track device, behavioral, and network signals to detect bots, emulators, and stolen sessions.</a:t>
            </a:r>
            <a:endParaRPr lang="en-US" sz="1100" dirty="0"/>
          </a:p>
        </p:txBody>
      </p:sp>
      <p:sp>
        <p:nvSpPr>
          <p:cNvPr id="28" name="Shape 26"/>
          <p:cNvSpPr/>
          <p:nvPr/>
        </p:nvSpPr>
        <p:spPr>
          <a:xfrm>
            <a:off x="5852160" y="4626864"/>
            <a:ext cx="73152" cy="731520"/>
          </a:xfrm>
          <a:prstGeom prst="rect">
            <a:avLst/>
          </a:prstGeom>
          <a:solidFill>
            <a:srgbClr val="F7B600"/>
          </a:solidFill>
          <a:ln w="12700">
            <a:solidFill>
              <a:srgbClr val="F7B600"/>
            </a:solidFill>
            <a:prstDash val="solid"/>
          </a:ln>
        </p:spPr>
      </p:sp>
      <p:sp>
        <p:nvSpPr>
          <p:cNvPr id="29" name="Text 27"/>
          <p:cNvSpPr/>
          <p:nvPr/>
        </p:nvSpPr>
        <p:spPr>
          <a:xfrm>
            <a:off x="6035040" y="4608576"/>
            <a:ext cx="57607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Case management &amp; reporting</a:t>
            </a:r>
            <a:endParaRPr lang="en-US" sz="1300" dirty="0"/>
          </a:p>
        </p:txBody>
      </p:sp>
      <p:sp>
        <p:nvSpPr>
          <p:cNvPr id="30" name="Text 28"/>
          <p:cNvSpPr/>
          <p:nvPr/>
        </p:nvSpPr>
        <p:spPr>
          <a:xfrm>
            <a:off x="6035040" y="4901184"/>
            <a:ext cx="5760720" cy="50292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Investigate flagged transactions, manage chargebacks, and tune models from a single console.</a:t>
            </a:r>
            <a:endParaRPr lang="en-US" sz="1100" dirty="0"/>
          </a:p>
        </p:txBody>
      </p:sp>
      <p:sp>
        <p:nvSpPr>
          <p:cNvPr id="31" name="Shape 29"/>
          <p:cNvSpPr/>
          <p:nvPr/>
        </p:nvSpPr>
        <p:spPr>
          <a:xfrm>
            <a:off x="5852160" y="5468112"/>
            <a:ext cx="73152" cy="731520"/>
          </a:xfrm>
          <a:prstGeom prst="rect">
            <a:avLst/>
          </a:prstGeom>
          <a:solidFill>
            <a:srgbClr val="F7B600"/>
          </a:solidFill>
          <a:ln w="12700">
            <a:solidFill>
              <a:srgbClr val="F7B600"/>
            </a:solidFill>
            <a:prstDash val="solid"/>
          </a:ln>
        </p:spPr>
      </p:sp>
      <p:sp>
        <p:nvSpPr>
          <p:cNvPr id="32" name="Text 30"/>
          <p:cNvSpPr/>
          <p:nvPr/>
        </p:nvSpPr>
        <p:spPr>
          <a:xfrm>
            <a:off x="6035040" y="5449824"/>
            <a:ext cx="57607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Global intelligence network</a:t>
            </a:r>
            <a:endParaRPr lang="en-US" sz="1300" dirty="0"/>
          </a:p>
        </p:txBody>
      </p:sp>
      <p:sp>
        <p:nvSpPr>
          <p:cNvPr id="33" name="Text 31"/>
          <p:cNvSpPr/>
          <p:nvPr/>
        </p:nvSpPr>
        <p:spPr>
          <a:xfrm>
            <a:off x="6035040" y="5742432"/>
            <a:ext cx="5760720" cy="50292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Benefit from Visa's consortium data — anonymized signals across 200+ markets.</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03  •  UNDER THE HOOD</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How AI detects fraud in real time</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783080"/>
            <a:ext cx="11247120" cy="1371600"/>
          </a:xfrm>
          <a:prstGeom prst="roundRect">
            <a:avLst>
              <a:gd name="adj" fmla="val 6667"/>
            </a:avLst>
          </a:prstGeom>
          <a:solidFill>
            <a:srgbClr val="FFFFFF"/>
          </a:solidFill>
          <a:ln w="12700">
            <a:solidFill>
              <a:srgbClr val="E3E7F1"/>
            </a:solidFill>
            <a:prstDash val="solid"/>
          </a:ln>
        </p:spPr>
      </p:sp>
      <p:sp>
        <p:nvSpPr>
          <p:cNvPr id="6" name="Shape 4"/>
          <p:cNvSpPr/>
          <p:nvPr/>
        </p:nvSpPr>
        <p:spPr>
          <a:xfrm>
            <a:off x="1307592" y="1920240"/>
            <a:ext cx="548640" cy="548640"/>
          </a:xfrm>
          <a:prstGeom prst="ellipse">
            <a:avLst/>
          </a:prstGeom>
          <a:solidFill>
            <a:srgbClr val="1A1F71"/>
          </a:solidFill>
          <a:ln w="12700">
            <a:solidFill>
              <a:srgbClr val="1A1F71"/>
            </a:solidFill>
            <a:prstDash val="solid"/>
          </a:ln>
        </p:spPr>
      </p:sp>
      <p:sp>
        <p:nvSpPr>
          <p:cNvPr id="7" name="Text 5"/>
          <p:cNvSpPr/>
          <p:nvPr/>
        </p:nvSpPr>
        <p:spPr>
          <a:xfrm>
            <a:off x="1307592"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502920" y="2496312"/>
            <a:ext cx="2157984" cy="274320"/>
          </a:xfrm>
          <a:prstGeom prst="rect">
            <a:avLst/>
          </a:prstGeom>
          <a:noFill/>
          <a:ln/>
        </p:spPr>
        <p:txBody>
          <a:bodyPr wrap="square" rtlCol="0" anchor="ctr"/>
          <a:lstStyle/>
          <a:p>
            <a:pPr algn="ctr" indent="0" marL="0">
              <a:buNone/>
            </a:pPr>
            <a:r>
              <a:rPr lang="en-US" sz="1300" b="1" dirty="0">
                <a:solidFill>
                  <a:srgbClr val="1A1F71"/>
                </a:solidFill>
                <a:latin typeface="Calibri" pitchFamily="34" charset="0"/>
                <a:ea typeface="Calibri" pitchFamily="34" charset="-122"/>
                <a:cs typeface="Calibri" pitchFamily="34" charset="-120"/>
              </a:rPr>
              <a:t>Capture</a:t>
            </a:r>
            <a:endParaRPr lang="en-US" sz="1300" dirty="0"/>
          </a:p>
        </p:txBody>
      </p:sp>
      <p:sp>
        <p:nvSpPr>
          <p:cNvPr id="9" name="Text 7"/>
          <p:cNvSpPr/>
          <p:nvPr/>
        </p:nvSpPr>
        <p:spPr>
          <a:xfrm>
            <a:off x="548640" y="2770632"/>
            <a:ext cx="2066544" cy="365760"/>
          </a:xfrm>
          <a:prstGeom prst="rect">
            <a:avLst/>
          </a:prstGeom>
          <a:noFill/>
          <a:ln/>
        </p:spPr>
        <p:txBody>
          <a:bodyPr wrap="square" rtlCol="0" anchor="ctr"/>
          <a:lstStyle/>
          <a:p>
            <a:pPr algn="ctr" indent="0" marL="0">
              <a:buNone/>
            </a:pPr>
            <a:r>
              <a:rPr lang="en-US" sz="950" dirty="0">
                <a:solidFill>
                  <a:srgbClr val="5A6385"/>
                </a:solidFill>
                <a:latin typeface="Calibri" pitchFamily="34" charset="0"/>
                <a:ea typeface="Calibri" pitchFamily="34" charset="-122"/>
                <a:cs typeface="Calibri" pitchFamily="34" charset="-120"/>
              </a:rPr>
              <a:t>Transaction, device, behavioral, and contextual signals collected at checkout.</a:t>
            </a:r>
            <a:endParaRPr lang="en-US" sz="950" dirty="0"/>
          </a:p>
        </p:txBody>
      </p:sp>
      <p:sp>
        <p:nvSpPr>
          <p:cNvPr id="10" name="Text 8"/>
          <p:cNvSpPr/>
          <p:nvPr/>
        </p:nvSpPr>
        <p:spPr>
          <a:xfrm>
            <a:off x="2523744" y="2011680"/>
            <a:ext cx="365760" cy="365760"/>
          </a:xfrm>
          <a:prstGeom prst="rect">
            <a:avLst/>
          </a:prstGeom>
          <a:noFill/>
          <a:ln/>
        </p:spPr>
        <p:txBody>
          <a:bodyPr wrap="square" rtlCol="0" anchor="ctr"/>
          <a:lstStyle/>
          <a:p>
            <a:pPr algn="ctr" indent="0" marL="0">
              <a:buNone/>
            </a:pPr>
            <a:r>
              <a:rPr lang="en-US" sz="1800" dirty="0">
                <a:solidFill>
                  <a:srgbClr val="F7B600"/>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557016" y="1920240"/>
            <a:ext cx="548640" cy="548640"/>
          </a:xfrm>
          <a:prstGeom prst="ellipse">
            <a:avLst/>
          </a:prstGeom>
          <a:solidFill>
            <a:srgbClr val="1A1F71"/>
          </a:solidFill>
          <a:ln w="12700">
            <a:solidFill>
              <a:srgbClr val="1A1F71"/>
            </a:solidFill>
            <a:prstDash val="solid"/>
          </a:ln>
        </p:spPr>
      </p:sp>
      <p:sp>
        <p:nvSpPr>
          <p:cNvPr id="12" name="Text 10"/>
          <p:cNvSpPr/>
          <p:nvPr/>
        </p:nvSpPr>
        <p:spPr>
          <a:xfrm>
            <a:off x="3557016"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2752344" y="2496312"/>
            <a:ext cx="2157984" cy="274320"/>
          </a:xfrm>
          <a:prstGeom prst="rect">
            <a:avLst/>
          </a:prstGeom>
          <a:noFill/>
          <a:ln/>
        </p:spPr>
        <p:txBody>
          <a:bodyPr wrap="square" rtlCol="0" anchor="ctr"/>
          <a:lstStyle/>
          <a:p>
            <a:pPr algn="ctr" indent="0" marL="0">
              <a:buNone/>
            </a:pPr>
            <a:r>
              <a:rPr lang="en-US" sz="1300" b="1" dirty="0">
                <a:solidFill>
                  <a:srgbClr val="1A1F71"/>
                </a:solidFill>
                <a:latin typeface="Calibri" pitchFamily="34" charset="0"/>
                <a:ea typeface="Calibri" pitchFamily="34" charset="-122"/>
                <a:cs typeface="Calibri" pitchFamily="34" charset="-120"/>
              </a:rPr>
              <a:t>Enrich</a:t>
            </a:r>
            <a:endParaRPr lang="en-US" sz="1300" dirty="0"/>
          </a:p>
        </p:txBody>
      </p:sp>
      <p:sp>
        <p:nvSpPr>
          <p:cNvPr id="14" name="Text 12"/>
          <p:cNvSpPr/>
          <p:nvPr/>
        </p:nvSpPr>
        <p:spPr>
          <a:xfrm>
            <a:off x="2798064" y="2770632"/>
            <a:ext cx="2066544" cy="365760"/>
          </a:xfrm>
          <a:prstGeom prst="rect">
            <a:avLst/>
          </a:prstGeom>
          <a:noFill/>
          <a:ln/>
        </p:spPr>
        <p:txBody>
          <a:bodyPr wrap="square" rtlCol="0" anchor="ctr"/>
          <a:lstStyle/>
          <a:p>
            <a:pPr algn="ctr" indent="0" marL="0">
              <a:buNone/>
            </a:pPr>
            <a:r>
              <a:rPr lang="en-US" sz="950" dirty="0">
                <a:solidFill>
                  <a:srgbClr val="5A6385"/>
                </a:solidFill>
                <a:latin typeface="Calibri" pitchFamily="34" charset="0"/>
                <a:ea typeface="Calibri" pitchFamily="34" charset="-122"/>
                <a:cs typeface="Calibri" pitchFamily="34" charset="-120"/>
              </a:rPr>
              <a:t>Cross-referenced with Visa's global consortium data and historical patterns.</a:t>
            </a:r>
            <a:endParaRPr lang="en-US" sz="950" dirty="0"/>
          </a:p>
        </p:txBody>
      </p:sp>
      <p:sp>
        <p:nvSpPr>
          <p:cNvPr id="15" name="Text 13"/>
          <p:cNvSpPr/>
          <p:nvPr/>
        </p:nvSpPr>
        <p:spPr>
          <a:xfrm>
            <a:off x="4773168" y="2011680"/>
            <a:ext cx="365760" cy="365760"/>
          </a:xfrm>
          <a:prstGeom prst="rect">
            <a:avLst/>
          </a:prstGeom>
          <a:noFill/>
          <a:ln/>
        </p:spPr>
        <p:txBody>
          <a:bodyPr wrap="square" rtlCol="0" anchor="ctr"/>
          <a:lstStyle/>
          <a:p>
            <a:pPr algn="ctr" indent="0" marL="0">
              <a:buNone/>
            </a:pPr>
            <a:r>
              <a:rPr lang="en-US" sz="1800" dirty="0">
                <a:solidFill>
                  <a:srgbClr val="F7B60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806440" y="1920240"/>
            <a:ext cx="548640" cy="548640"/>
          </a:xfrm>
          <a:prstGeom prst="ellipse">
            <a:avLst/>
          </a:prstGeom>
          <a:solidFill>
            <a:srgbClr val="1A1F71"/>
          </a:solidFill>
          <a:ln w="12700">
            <a:solidFill>
              <a:srgbClr val="1A1F71"/>
            </a:solidFill>
            <a:prstDash val="solid"/>
          </a:ln>
        </p:spPr>
      </p:sp>
      <p:sp>
        <p:nvSpPr>
          <p:cNvPr id="17" name="Text 15"/>
          <p:cNvSpPr/>
          <p:nvPr/>
        </p:nvSpPr>
        <p:spPr>
          <a:xfrm>
            <a:off x="5806440"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5001768" y="2496312"/>
            <a:ext cx="2157984" cy="274320"/>
          </a:xfrm>
          <a:prstGeom prst="rect">
            <a:avLst/>
          </a:prstGeom>
          <a:noFill/>
          <a:ln/>
        </p:spPr>
        <p:txBody>
          <a:bodyPr wrap="square" rtlCol="0" anchor="ctr"/>
          <a:lstStyle/>
          <a:p>
            <a:pPr algn="ctr" indent="0" marL="0">
              <a:buNone/>
            </a:pPr>
            <a:r>
              <a:rPr lang="en-US" sz="1300" b="1" dirty="0">
                <a:solidFill>
                  <a:srgbClr val="1A1F71"/>
                </a:solidFill>
                <a:latin typeface="Calibri" pitchFamily="34" charset="0"/>
                <a:ea typeface="Calibri" pitchFamily="34" charset="-122"/>
                <a:cs typeface="Calibri" pitchFamily="34" charset="-120"/>
              </a:rPr>
              <a:t>Score</a:t>
            </a:r>
            <a:endParaRPr lang="en-US" sz="1300" dirty="0"/>
          </a:p>
        </p:txBody>
      </p:sp>
      <p:sp>
        <p:nvSpPr>
          <p:cNvPr id="19" name="Text 17"/>
          <p:cNvSpPr/>
          <p:nvPr/>
        </p:nvSpPr>
        <p:spPr>
          <a:xfrm>
            <a:off x="5047488" y="2770632"/>
            <a:ext cx="2066544" cy="365760"/>
          </a:xfrm>
          <a:prstGeom prst="rect">
            <a:avLst/>
          </a:prstGeom>
          <a:noFill/>
          <a:ln/>
        </p:spPr>
        <p:txBody>
          <a:bodyPr wrap="square" rtlCol="0" anchor="ctr"/>
          <a:lstStyle/>
          <a:p>
            <a:pPr algn="ctr" indent="0" marL="0">
              <a:buNone/>
            </a:pPr>
            <a:r>
              <a:rPr lang="en-US" sz="950" dirty="0">
                <a:solidFill>
                  <a:srgbClr val="5A6385"/>
                </a:solidFill>
                <a:latin typeface="Calibri" pitchFamily="34" charset="0"/>
                <a:ea typeface="Calibri" pitchFamily="34" charset="-122"/>
                <a:cs typeface="Calibri" pitchFamily="34" charset="-120"/>
              </a:rPr>
              <a:t>Deep-learning models output a real-time risk score (0–99) in &lt;500ms.</a:t>
            </a:r>
            <a:endParaRPr lang="en-US" sz="950" dirty="0"/>
          </a:p>
        </p:txBody>
      </p:sp>
      <p:sp>
        <p:nvSpPr>
          <p:cNvPr id="20" name="Text 18"/>
          <p:cNvSpPr/>
          <p:nvPr/>
        </p:nvSpPr>
        <p:spPr>
          <a:xfrm>
            <a:off x="7022592" y="2011680"/>
            <a:ext cx="365760" cy="365760"/>
          </a:xfrm>
          <a:prstGeom prst="rect">
            <a:avLst/>
          </a:prstGeom>
          <a:noFill/>
          <a:ln/>
        </p:spPr>
        <p:txBody>
          <a:bodyPr wrap="square" rtlCol="0" anchor="ctr"/>
          <a:lstStyle/>
          <a:p>
            <a:pPr algn="ctr" indent="0" marL="0">
              <a:buNone/>
            </a:pPr>
            <a:r>
              <a:rPr lang="en-US" sz="1800" dirty="0">
                <a:solidFill>
                  <a:srgbClr val="F7B600"/>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8055864" y="1920240"/>
            <a:ext cx="548640" cy="548640"/>
          </a:xfrm>
          <a:prstGeom prst="ellipse">
            <a:avLst/>
          </a:prstGeom>
          <a:solidFill>
            <a:srgbClr val="1A1F71"/>
          </a:solidFill>
          <a:ln w="12700">
            <a:solidFill>
              <a:srgbClr val="1A1F71"/>
            </a:solidFill>
            <a:prstDash val="solid"/>
          </a:ln>
        </p:spPr>
      </p:sp>
      <p:sp>
        <p:nvSpPr>
          <p:cNvPr id="22" name="Text 20"/>
          <p:cNvSpPr/>
          <p:nvPr/>
        </p:nvSpPr>
        <p:spPr>
          <a:xfrm>
            <a:off x="8055864"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7251192" y="2496312"/>
            <a:ext cx="2157984" cy="274320"/>
          </a:xfrm>
          <a:prstGeom prst="rect">
            <a:avLst/>
          </a:prstGeom>
          <a:noFill/>
          <a:ln/>
        </p:spPr>
        <p:txBody>
          <a:bodyPr wrap="square" rtlCol="0" anchor="ctr"/>
          <a:lstStyle/>
          <a:p>
            <a:pPr algn="ctr" indent="0" marL="0">
              <a:buNone/>
            </a:pPr>
            <a:r>
              <a:rPr lang="en-US" sz="1300" b="1" dirty="0">
                <a:solidFill>
                  <a:srgbClr val="1A1F71"/>
                </a:solidFill>
                <a:latin typeface="Calibri" pitchFamily="34" charset="0"/>
                <a:ea typeface="Calibri" pitchFamily="34" charset="-122"/>
                <a:cs typeface="Calibri" pitchFamily="34" charset="-120"/>
              </a:rPr>
              <a:t>Decide</a:t>
            </a:r>
            <a:endParaRPr lang="en-US" sz="1300" dirty="0"/>
          </a:p>
        </p:txBody>
      </p:sp>
      <p:sp>
        <p:nvSpPr>
          <p:cNvPr id="24" name="Text 22"/>
          <p:cNvSpPr/>
          <p:nvPr/>
        </p:nvSpPr>
        <p:spPr>
          <a:xfrm>
            <a:off x="7296912" y="2770632"/>
            <a:ext cx="2066544" cy="365760"/>
          </a:xfrm>
          <a:prstGeom prst="rect">
            <a:avLst/>
          </a:prstGeom>
          <a:noFill/>
          <a:ln/>
        </p:spPr>
        <p:txBody>
          <a:bodyPr wrap="square" rtlCol="0" anchor="ctr"/>
          <a:lstStyle/>
          <a:p>
            <a:pPr algn="ctr" indent="0" marL="0">
              <a:buNone/>
            </a:pPr>
            <a:r>
              <a:rPr lang="en-US" sz="950" dirty="0">
                <a:solidFill>
                  <a:srgbClr val="5A6385"/>
                </a:solidFill>
                <a:latin typeface="Calibri" pitchFamily="34" charset="0"/>
                <a:ea typeface="Calibri" pitchFamily="34" charset="-122"/>
                <a:cs typeface="Calibri" pitchFamily="34" charset="-120"/>
              </a:rPr>
              <a:t>Auto approve, decline, or step-up (3-D Secure / OTP) based on tuned thresholds.</a:t>
            </a:r>
            <a:endParaRPr lang="en-US" sz="950" dirty="0"/>
          </a:p>
        </p:txBody>
      </p:sp>
      <p:sp>
        <p:nvSpPr>
          <p:cNvPr id="25" name="Text 23"/>
          <p:cNvSpPr/>
          <p:nvPr/>
        </p:nvSpPr>
        <p:spPr>
          <a:xfrm>
            <a:off x="9272016" y="2011680"/>
            <a:ext cx="365760" cy="365760"/>
          </a:xfrm>
          <a:prstGeom prst="rect">
            <a:avLst/>
          </a:prstGeom>
          <a:noFill/>
          <a:ln/>
        </p:spPr>
        <p:txBody>
          <a:bodyPr wrap="square" rtlCol="0" anchor="ctr"/>
          <a:lstStyle/>
          <a:p>
            <a:pPr algn="ctr" indent="0" marL="0">
              <a:buNone/>
            </a:pPr>
            <a:r>
              <a:rPr lang="en-US" sz="1800" dirty="0">
                <a:solidFill>
                  <a:srgbClr val="F7B600"/>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10305288" y="1920240"/>
            <a:ext cx="548640" cy="548640"/>
          </a:xfrm>
          <a:prstGeom prst="ellipse">
            <a:avLst/>
          </a:prstGeom>
          <a:solidFill>
            <a:srgbClr val="1A1F71"/>
          </a:solidFill>
          <a:ln w="12700">
            <a:solidFill>
              <a:srgbClr val="1A1F71"/>
            </a:solidFill>
            <a:prstDash val="solid"/>
          </a:ln>
        </p:spPr>
      </p:sp>
      <p:sp>
        <p:nvSpPr>
          <p:cNvPr id="27" name="Text 25"/>
          <p:cNvSpPr/>
          <p:nvPr/>
        </p:nvSpPr>
        <p:spPr>
          <a:xfrm>
            <a:off x="10305288"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9500616" y="2496312"/>
            <a:ext cx="2157984" cy="274320"/>
          </a:xfrm>
          <a:prstGeom prst="rect">
            <a:avLst/>
          </a:prstGeom>
          <a:noFill/>
          <a:ln/>
        </p:spPr>
        <p:txBody>
          <a:bodyPr wrap="square" rtlCol="0" anchor="ctr"/>
          <a:lstStyle/>
          <a:p>
            <a:pPr algn="ctr" indent="0" marL="0">
              <a:buNone/>
            </a:pPr>
            <a:r>
              <a:rPr lang="en-US" sz="1300" b="1" dirty="0">
                <a:solidFill>
                  <a:srgbClr val="1A1F71"/>
                </a:solidFill>
                <a:latin typeface="Calibri" pitchFamily="34" charset="0"/>
                <a:ea typeface="Calibri" pitchFamily="34" charset="-122"/>
                <a:cs typeface="Calibri" pitchFamily="34" charset="-120"/>
              </a:rPr>
              <a:t>Learn</a:t>
            </a:r>
            <a:endParaRPr lang="en-US" sz="1300" dirty="0"/>
          </a:p>
        </p:txBody>
      </p:sp>
      <p:sp>
        <p:nvSpPr>
          <p:cNvPr id="29" name="Text 27"/>
          <p:cNvSpPr/>
          <p:nvPr/>
        </p:nvSpPr>
        <p:spPr>
          <a:xfrm>
            <a:off x="9546336" y="2770632"/>
            <a:ext cx="2066544" cy="365760"/>
          </a:xfrm>
          <a:prstGeom prst="rect">
            <a:avLst/>
          </a:prstGeom>
          <a:noFill/>
          <a:ln/>
        </p:spPr>
        <p:txBody>
          <a:bodyPr wrap="square" rtlCol="0" anchor="ctr"/>
          <a:lstStyle/>
          <a:p>
            <a:pPr algn="ctr" indent="0" marL="0">
              <a:buNone/>
            </a:pPr>
            <a:r>
              <a:rPr lang="en-US" sz="950" dirty="0">
                <a:solidFill>
                  <a:srgbClr val="5A6385"/>
                </a:solidFill>
                <a:latin typeface="Calibri" pitchFamily="34" charset="0"/>
                <a:ea typeface="Calibri" pitchFamily="34" charset="-122"/>
                <a:cs typeface="Calibri" pitchFamily="34" charset="-120"/>
              </a:rPr>
              <a:t>Feedback loop retrains models nightly with confirmed fraud and chargeback labels.</a:t>
            </a:r>
            <a:endParaRPr lang="en-US" sz="950" dirty="0"/>
          </a:p>
        </p:txBody>
      </p:sp>
      <p:sp>
        <p:nvSpPr>
          <p:cNvPr id="30" name="Text 28"/>
          <p:cNvSpPr/>
          <p:nvPr/>
        </p:nvSpPr>
        <p:spPr>
          <a:xfrm>
            <a:off x="457200" y="3383280"/>
            <a:ext cx="10972800" cy="365760"/>
          </a:xfrm>
          <a:prstGeom prst="rect">
            <a:avLst/>
          </a:prstGeom>
          <a:noFill/>
          <a:ln/>
        </p:spPr>
        <p:txBody>
          <a:bodyPr wrap="square" rtlCol="0" anchor="ctr"/>
          <a:lstStyle/>
          <a:p>
            <a:pPr indent="0" marL="0">
              <a:buNone/>
            </a:pPr>
            <a:r>
              <a:rPr lang="en-US" sz="1600" b="1" dirty="0">
                <a:solidFill>
                  <a:srgbClr val="1A1F71"/>
                </a:solidFill>
                <a:latin typeface="Calibri" pitchFamily="34" charset="0"/>
                <a:ea typeface="Calibri" pitchFamily="34" charset="-122"/>
                <a:cs typeface="Calibri" pitchFamily="34" charset="-120"/>
              </a:rPr>
              <a:t>The AI toolbox inside Decision Manager</a:t>
            </a:r>
            <a:endParaRPr lang="en-US" sz="1600" dirty="0"/>
          </a:p>
        </p:txBody>
      </p:sp>
      <p:sp>
        <p:nvSpPr>
          <p:cNvPr id="31" name="Shape 29"/>
          <p:cNvSpPr/>
          <p:nvPr/>
        </p:nvSpPr>
        <p:spPr>
          <a:xfrm>
            <a:off x="457200" y="3794760"/>
            <a:ext cx="5486400" cy="1097280"/>
          </a:xfrm>
          <a:prstGeom prst="roundRect">
            <a:avLst>
              <a:gd name="adj" fmla="val 6667"/>
            </a:avLst>
          </a:prstGeom>
          <a:solidFill>
            <a:srgbClr val="FFFFFF"/>
          </a:solidFill>
          <a:ln w="12700">
            <a:solidFill>
              <a:srgbClr val="E3E7F1"/>
            </a:solidFill>
            <a:prstDash val="solid"/>
          </a:ln>
        </p:spPr>
      </p:sp>
      <p:sp>
        <p:nvSpPr>
          <p:cNvPr id="32" name="Shape 30"/>
          <p:cNvSpPr/>
          <p:nvPr/>
        </p:nvSpPr>
        <p:spPr>
          <a:xfrm>
            <a:off x="457200" y="3794760"/>
            <a:ext cx="91440" cy="1097280"/>
          </a:xfrm>
          <a:prstGeom prst="rect">
            <a:avLst/>
          </a:prstGeom>
          <a:solidFill>
            <a:srgbClr val="F7B600"/>
          </a:solidFill>
          <a:ln w="12700">
            <a:solidFill>
              <a:srgbClr val="F7B600"/>
            </a:solidFill>
            <a:prstDash val="solid"/>
          </a:ln>
        </p:spPr>
      </p:sp>
      <p:sp>
        <p:nvSpPr>
          <p:cNvPr id="33" name="Text 31"/>
          <p:cNvSpPr/>
          <p:nvPr/>
        </p:nvSpPr>
        <p:spPr>
          <a:xfrm>
            <a:off x="685800" y="3931920"/>
            <a:ext cx="51206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Gradient-Boosted Trees</a:t>
            </a:r>
            <a:endParaRPr lang="en-US" sz="1400" dirty="0"/>
          </a:p>
        </p:txBody>
      </p:sp>
      <p:sp>
        <p:nvSpPr>
          <p:cNvPr id="34" name="Text 32"/>
          <p:cNvSpPr/>
          <p:nvPr/>
        </p:nvSpPr>
        <p:spPr>
          <a:xfrm>
            <a:off x="685800" y="4297680"/>
            <a:ext cx="5120640" cy="54864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Primary risk scoring; handles tabular signals like amount, BIN, velocity.</a:t>
            </a:r>
            <a:endParaRPr lang="en-US" sz="1100" dirty="0"/>
          </a:p>
        </p:txBody>
      </p:sp>
      <p:sp>
        <p:nvSpPr>
          <p:cNvPr id="35" name="Shape 33"/>
          <p:cNvSpPr/>
          <p:nvPr/>
        </p:nvSpPr>
        <p:spPr>
          <a:xfrm>
            <a:off x="6217920" y="3794760"/>
            <a:ext cx="5486400" cy="1097280"/>
          </a:xfrm>
          <a:prstGeom prst="roundRect">
            <a:avLst>
              <a:gd name="adj" fmla="val 6667"/>
            </a:avLst>
          </a:prstGeom>
          <a:solidFill>
            <a:srgbClr val="FFFFFF"/>
          </a:solidFill>
          <a:ln w="12700">
            <a:solidFill>
              <a:srgbClr val="E3E7F1"/>
            </a:solidFill>
            <a:prstDash val="solid"/>
          </a:ln>
        </p:spPr>
      </p:sp>
      <p:sp>
        <p:nvSpPr>
          <p:cNvPr id="36" name="Shape 34"/>
          <p:cNvSpPr/>
          <p:nvPr/>
        </p:nvSpPr>
        <p:spPr>
          <a:xfrm>
            <a:off x="6217920" y="3794760"/>
            <a:ext cx="91440" cy="1097280"/>
          </a:xfrm>
          <a:prstGeom prst="rect">
            <a:avLst/>
          </a:prstGeom>
          <a:solidFill>
            <a:srgbClr val="F7B600"/>
          </a:solidFill>
          <a:ln w="12700">
            <a:solidFill>
              <a:srgbClr val="F7B600"/>
            </a:solidFill>
            <a:prstDash val="solid"/>
          </a:ln>
        </p:spPr>
      </p:sp>
      <p:sp>
        <p:nvSpPr>
          <p:cNvPr id="37" name="Text 35"/>
          <p:cNvSpPr/>
          <p:nvPr/>
        </p:nvSpPr>
        <p:spPr>
          <a:xfrm>
            <a:off x="6446520" y="3931920"/>
            <a:ext cx="51206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Deep Neural Networks</a:t>
            </a:r>
            <a:endParaRPr lang="en-US" sz="1400" dirty="0"/>
          </a:p>
        </p:txBody>
      </p:sp>
      <p:sp>
        <p:nvSpPr>
          <p:cNvPr id="38" name="Text 36"/>
          <p:cNvSpPr/>
          <p:nvPr/>
        </p:nvSpPr>
        <p:spPr>
          <a:xfrm>
            <a:off x="6446520" y="4297680"/>
            <a:ext cx="5120640" cy="54864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Capture non-linear patterns across hundreds of features — detect novel fraud.</a:t>
            </a:r>
            <a:endParaRPr lang="en-US" sz="1100" dirty="0"/>
          </a:p>
        </p:txBody>
      </p:sp>
      <p:sp>
        <p:nvSpPr>
          <p:cNvPr id="39" name="Shape 37"/>
          <p:cNvSpPr/>
          <p:nvPr/>
        </p:nvSpPr>
        <p:spPr>
          <a:xfrm>
            <a:off x="457200" y="5029200"/>
            <a:ext cx="5486400" cy="1097280"/>
          </a:xfrm>
          <a:prstGeom prst="roundRect">
            <a:avLst>
              <a:gd name="adj" fmla="val 6667"/>
            </a:avLst>
          </a:prstGeom>
          <a:solidFill>
            <a:srgbClr val="FFFFFF"/>
          </a:solidFill>
          <a:ln w="12700">
            <a:solidFill>
              <a:srgbClr val="E3E7F1"/>
            </a:solidFill>
            <a:prstDash val="solid"/>
          </a:ln>
        </p:spPr>
      </p:sp>
      <p:sp>
        <p:nvSpPr>
          <p:cNvPr id="40" name="Shape 38"/>
          <p:cNvSpPr/>
          <p:nvPr/>
        </p:nvSpPr>
        <p:spPr>
          <a:xfrm>
            <a:off x="457200" y="5029200"/>
            <a:ext cx="91440" cy="1097280"/>
          </a:xfrm>
          <a:prstGeom prst="rect">
            <a:avLst/>
          </a:prstGeom>
          <a:solidFill>
            <a:srgbClr val="F7B600"/>
          </a:solidFill>
          <a:ln w="12700">
            <a:solidFill>
              <a:srgbClr val="F7B600"/>
            </a:solidFill>
            <a:prstDash val="solid"/>
          </a:ln>
        </p:spPr>
      </p:sp>
      <p:sp>
        <p:nvSpPr>
          <p:cNvPr id="41" name="Text 39"/>
          <p:cNvSpPr/>
          <p:nvPr/>
        </p:nvSpPr>
        <p:spPr>
          <a:xfrm>
            <a:off x="685800" y="5166360"/>
            <a:ext cx="51206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Graph Neural Networks</a:t>
            </a:r>
            <a:endParaRPr lang="en-US" sz="1400" dirty="0"/>
          </a:p>
        </p:txBody>
      </p:sp>
      <p:sp>
        <p:nvSpPr>
          <p:cNvPr id="42" name="Text 40"/>
          <p:cNvSpPr/>
          <p:nvPr/>
        </p:nvSpPr>
        <p:spPr>
          <a:xfrm>
            <a:off x="685800" y="5532120"/>
            <a:ext cx="5120640" cy="54864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Link analysis across cards, devices, IPs to surface fraud rings.</a:t>
            </a:r>
            <a:endParaRPr lang="en-US" sz="1100" dirty="0"/>
          </a:p>
        </p:txBody>
      </p:sp>
      <p:sp>
        <p:nvSpPr>
          <p:cNvPr id="43" name="Shape 41"/>
          <p:cNvSpPr/>
          <p:nvPr/>
        </p:nvSpPr>
        <p:spPr>
          <a:xfrm>
            <a:off x="6217920" y="5029200"/>
            <a:ext cx="5486400" cy="1097280"/>
          </a:xfrm>
          <a:prstGeom prst="roundRect">
            <a:avLst>
              <a:gd name="adj" fmla="val 6667"/>
            </a:avLst>
          </a:prstGeom>
          <a:solidFill>
            <a:srgbClr val="FFFFFF"/>
          </a:solidFill>
          <a:ln w="12700">
            <a:solidFill>
              <a:srgbClr val="E3E7F1"/>
            </a:solidFill>
            <a:prstDash val="solid"/>
          </a:ln>
        </p:spPr>
      </p:sp>
      <p:sp>
        <p:nvSpPr>
          <p:cNvPr id="44" name="Shape 42"/>
          <p:cNvSpPr/>
          <p:nvPr/>
        </p:nvSpPr>
        <p:spPr>
          <a:xfrm>
            <a:off x="6217920" y="5029200"/>
            <a:ext cx="91440" cy="1097280"/>
          </a:xfrm>
          <a:prstGeom prst="rect">
            <a:avLst/>
          </a:prstGeom>
          <a:solidFill>
            <a:srgbClr val="F7B600"/>
          </a:solidFill>
          <a:ln w="12700">
            <a:solidFill>
              <a:srgbClr val="F7B600"/>
            </a:solidFill>
            <a:prstDash val="solid"/>
          </a:ln>
        </p:spPr>
      </p:sp>
      <p:sp>
        <p:nvSpPr>
          <p:cNvPr id="45" name="Text 43"/>
          <p:cNvSpPr/>
          <p:nvPr/>
        </p:nvSpPr>
        <p:spPr>
          <a:xfrm>
            <a:off x="6446520" y="5166360"/>
            <a:ext cx="5120640" cy="365760"/>
          </a:xfrm>
          <a:prstGeom prst="rect">
            <a:avLst/>
          </a:prstGeom>
          <a:noFill/>
          <a:ln/>
        </p:spPr>
        <p:txBody>
          <a:bodyPr wrap="square" rtlCol="0" anchor="ctr"/>
          <a:lstStyle/>
          <a:p>
            <a:pPr indent="0" marL="0">
              <a:buNone/>
            </a:pPr>
            <a:r>
              <a:rPr lang="en-US" sz="1400" b="1" dirty="0">
                <a:solidFill>
                  <a:srgbClr val="1A1F71"/>
                </a:solidFill>
                <a:latin typeface="Calibri" pitchFamily="34" charset="0"/>
                <a:ea typeface="Calibri" pitchFamily="34" charset="-122"/>
                <a:cs typeface="Calibri" pitchFamily="34" charset="-120"/>
              </a:rPr>
              <a:t>Behavioral Biometrics</a:t>
            </a:r>
            <a:endParaRPr lang="en-US" sz="1400" dirty="0"/>
          </a:p>
        </p:txBody>
      </p:sp>
      <p:sp>
        <p:nvSpPr>
          <p:cNvPr id="46" name="Text 44"/>
          <p:cNvSpPr/>
          <p:nvPr/>
        </p:nvSpPr>
        <p:spPr>
          <a:xfrm>
            <a:off x="6446520" y="5532120"/>
            <a:ext cx="5120640" cy="54864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Typing cadence, mouse motion, touch pressure to detect bots &amp; ATO.</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04  •  CASE STUDY</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Global Airline cuts chargebacks 40% with Decision Manager</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691640"/>
            <a:ext cx="3840480" cy="4572000"/>
          </a:xfrm>
          <a:prstGeom prst="roundRect">
            <a:avLst>
              <a:gd name="adj" fmla="val 2857"/>
            </a:avLst>
          </a:prstGeom>
          <a:solidFill>
            <a:srgbClr val="1A1F71"/>
          </a:solidFill>
          <a:ln w="12700">
            <a:solidFill>
              <a:srgbClr val="1A1F71"/>
            </a:solidFill>
            <a:prstDash val="solid"/>
          </a:ln>
        </p:spPr>
      </p:sp>
      <p:sp>
        <p:nvSpPr>
          <p:cNvPr id="6" name="Text 4"/>
          <p:cNvSpPr/>
          <p:nvPr/>
        </p:nvSpPr>
        <p:spPr>
          <a:xfrm>
            <a:off x="685800" y="1828800"/>
            <a:ext cx="3657600" cy="274320"/>
          </a:xfrm>
          <a:prstGeom prst="rect">
            <a:avLst/>
          </a:prstGeom>
          <a:noFill/>
          <a:ln/>
        </p:spPr>
        <p:txBody>
          <a:bodyPr wrap="square" rtlCol="0" anchor="ctr"/>
          <a:lstStyle/>
          <a:p>
            <a:pPr indent="0" marL="0">
              <a:buNone/>
            </a:pPr>
            <a:r>
              <a:rPr lang="en-US" sz="1000" b="1" spc="400" kern="0" dirty="0">
                <a:solidFill>
                  <a:srgbClr val="F7B600"/>
                </a:solidFill>
                <a:latin typeface="Calibri" pitchFamily="34" charset="0"/>
                <a:ea typeface="Calibri" pitchFamily="34" charset="-122"/>
                <a:cs typeface="Calibri" pitchFamily="34" charset="-120"/>
              </a:rPr>
              <a:t>CLIENT SNAPSHOT</a:t>
            </a:r>
            <a:endParaRPr lang="en-US" sz="1000" dirty="0"/>
          </a:p>
        </p:txBody>
      </p:sp>
      <p:sp>
        <p:nvSpPr>
          <p:cNvPr id="7" name="Text 5"/>
          <p:cNvSpPr/>
          <p:nvPr/>
        </p:nvSpPr>
        <p:spPr>
          <a:xfrm>
            <a:off x="685800" y="2103120"/>
            <a:ext cx="36576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SkyConnect Airlines*</a:t>
            </a:r>
            <a:endParaRPr lang="en-US" sz="2000" dirty="0"/>
          </a:p>
        </p:txBody>
      </p:sp>
      <p:sp>
        <p:nvSpPr>
          <p:cNvPr id="8" name="Text 6"/>
          <p:cNvSpPr/>
          <p:nvPr/>
        </p:nvSpPr>
        <p:spPr>
          <a:xfrm>
            <a:off x="685800" y="2606040"/>
            <a:ext cx="3520440" cy="822960"/>
          </a:xfrm>
          <a:prstGeom prst="rect">
            <a:avLst/>
          </a:prstGeom>
          <a:noFill/>
          <a:ln/>
        </p:spPr>
        <p:txBody>
          <a:bodyPr wrap="square" rtlCol="0" anchor="ctr"/>
          <a:lstStyle/>
          <a:p>
            <a:pPr indent="0" marL="0">
              <a:buNone/>
            </a:pPr>
            <a:r>
              <a:rPr lang="en-US" sz="1200" dirty="0">
                <a:solidFill>
                  <a:srgbClr val="C9D2F0"/>
                </a:solidFill>
                <a:latin typeface="Calibri" pitchFamily="34" charset="0"/>
                <a:ea typeface="Calibri" pitchFamily="34" charset="-122"/>
                <a:cs typeface="Calibri" pitchFamily="34" charset="-120"/>
              </a:rPr>
              <a:t>Tier-1 international carrier  •  30M+ passengers/yr  •  Online bookings in 80+ countries</a:t>
            </a:r>
            <a:endParaRPr lang="en-US" sz="1200" dirty="0"/>
          </a:p>
        </p:txBody>
      </p:sp>
      <p:sp>
        <p:nvSpPr>
          <p:cNvPr id="9" name="Shape 7"/>
          <p:cNvSpPr/>
          <p:nvPr/>
        </p:nvSpPr>
        <p:spPr>
          <a:xfrm>
            <a:off x="685800" y="3657600"/>
            <a:ext cx="3383280" cy="0"/>
          </a:xfrm>
          <a:prstGeom prst="line">
            <a:avLst/>
          </a:prstGeom>
          <a:noFill/>
          <a:ln w="12700">
            <a:solidFill>
              <a:srgbClr val="2A3FA0"/>
            </a:solidFill>
            <a:prstDash val="solid"/>
          </a:ln>
        </p:spPr>
      </p:sp>
      <p:sp>
        <p:nvSpPr>
          <p:cNvPr id="10" name="Text 8"/>
          <p:cNvSpPr/>
          <p:nvPr/>
        </p:nvSpPr>
        <p:spPr>
          <a:xfrm>
            <a:off x="685800" y="3712464"/>
            <a:ext cx="2011680" cy="365760"/>
          </a:xfrm>
          <a:prstGeom prst="rect">
            <a:avLst/>
          </a:prstGeom>
          <a:noFill/>
          <a:ln/>
        </p:spPr>
        <p:txBody>
          <a:bodyPr wrap="square" rtlCol="0" anchor="ctr"/>
          <a:lstStyle/>
          <a:p>
            <a:pPr indent="0" marL="0">
              <a:buNone/>
            </a:pPr>
            <a:r>
              <a:rPr lang="en-US" sz="1100" dirty="0">
                <a:solidFill>
                  <a:srgbClr val="9AA7D6"/>
                </a:solidFill>
                <a:latin typeface="Calibri" pitchFamily="34" charset="0"/>
                <a:ea typeface="Calibri" pitchFamily="34" charset="-122"/>
                <a:cs typeface="Calibri" pitchFamily="34" charset="-120"/>
              </a:rPr>
              <a:t>Annual GMV</a:t>
            </a:r>
            <a:endParaRPr lang="en-US" sz="1100" dirty="0"/>
          </a:p>
        </p:txBody>
      </p:sp>
      <p:sp>
        <p:nvSpPr>
          <p:cNvPr id="11" name="Text 9"/>
          <p:cNvSpPr/>
          <p:nvPr/>
        </p:nvSpPr>
        <p:spPr>
          <a:xfrm>
            <a:off x="2697480" y="3712464"/>
            <a:ext cx="1371600" cy="365760"/>
          </a:xfrm>
          <a:prstGeom prst="rect">
            <a:avLst/>
          </a:prstGeom>
          <a:noFill/>
          <a:ln/>
        </p:spPr>
        <p:txBody>
          <a:bodyPr wrap="square" rtlCol="0" anchor="ctr"/>
          <a:lstStyle/>
          <a:p>
            <a:pPr algn="r" indent="0" marL="0">
              <a:buNone/>
            </a:pPr>
            <a:r>
              <a:rPr lang="en-US" sz="1400" b="1" dirty="0">
                <a:solidFill>
                  <a:srgbClr val="F7B600"/>
                </a:solidFill>
                <a:latin typeface="Calibri" pitchFamily="34" charset="0"/>
                <a:ea typeface="Calibri" pitchFamily="34" charset="-122"/>
                <a:cs typeface="Calibri" pitchFamily="34" charset="-120"/>
              </a:rPr>
              <a:t>$ 9.2B</a:t>
            </a:r>
            <a:endParaRPr lang="en-US" sz="1400" dirty="0"/>
          </a:p>
        </p:txBody>
      </p:sp>
      <p:sp>
        <p:nvSpPr>
          <p:cNvPr id="12" name="Shape 10"/>
          <p:cNvSpPr/>
          <p:nvPr/>
        </p:nvSpPr>
        <p:spPr>
          <a:xfrm>
            <a:off x="685800" y="4224528"/>
            <a:ext cx="3383280" cy="0"/>
          </a:xfrm>
          <a:prstGeom prst="line">
            <a:avLst/>
          </a:prstGeom>
          <a:noFill/>
          <a:ln w="12700">
            <a:solidFill>
              <a:srgbClr val="2A3FA0"/>
            </a:solidFill>
            <a:prstDash val="solid"/>
          </a:ln>
        </p:spPr>
      </p:sp>
      <p:sp>
        <p:nvSpPr>
          <p:cNvPr id="13" name="Text 11"/>
          <p:cNvSpPr/>
          <p:nvPr/>
        </p:nvSpPr>
        <p:spPr>
          <a:xfrm>
            <a:off x="685800" y="4279392"/>
            <a:ext cx="2011680" cy="365760"/>
          </a:xfrm>
          <a:prstGeom prst="rect">
            <a:avLst/>
          </a:prstGeom>
          <a:noFill/>
          <a:ln/>
        </p:spPr>
        <p:txBody>
          <a:bodyPr wrap="square" rtlCol="0" anchor="ctr"/>
          <a:lstStyle/>
          <a:p>
            <a:pPr indent="0" marL="0">
              <a:buNone/>
            </a:pPr>
            <a:r>
              <a:rPr lang="en-US" sz="1100" dirty="0">
                <a:solidFill>
                  <a:srgbClr val="9AA7D6"/>
                </a:solidFill>
                <a:latin typeface="Calibri" pitchFamily="34" charset="0"/>
                <a:ea typeface="Calibri" pitchFamily="34" charset="-122"/>
                <a:cs typeface="Calibri" pitchFamily="34" charset="-120"/>
              </a:rPr>
              <a:t>Daily transactions</a:t>
            </a:r>
            <a:endParaRPr lang="en-US" sz="1100" dirty="0"/>
          </a:p>
        </p:txBody>
      </p:sp>
      <p:sp>
        <p:nvSpPr>
          <p:cNvPr id="14" name="Text 12"/>
          <p:cNvSpPr/>
          <p:nvPr/>
        </p:nvSpPr>
        <p:spPr>
          <a:xfrm>
            <a:off x="2697480" y="4279392"/>
            <a:ext cx="1371600" cy="365760"/>
          </a:xfrm>
          <a:prstGeom prst="rect">
            <a:avLst/>
          </a:prstGeom>
          <a:noFill/>
          <a:ln/>
        </p:spPr>
        <p:txBody>
          <a:bodyPr wrap="square" rtlCol="0" anchor="ctr"/>
          <a:lstStyle/>
          <a:p>
            <a:pPr algn="r" indent="0" marL="0">
              <a:buNone/>
            </a:pPr>
            <a:r>
              <a:rPr lang="en-US" sz="1400" b="1" dirty="0">
                <a:solidFill>
                  <a:srgbClr val="F7B600"/>
                </a:solidFill>
                <a:latin typeface="Calibri" pitchFamily="34" charset="0"/>
                <a:ea typeface="Calibri" pitchFamily="34" charset="-122"/>
                <a:cs typeface="Calibri" pitchFamily="34" charset="-120"/>
              </a:rPr>
              <a:t>~ 220,000</a:t>
            </a:r>
            <a:endParaRPr lang="en-US" sz="1400" dirty="0"/>
          </a:p>
        </p:txBody>
      </p:sp>
      <p:sp>
        <p:nvSpPr>
          <p:cNvPr id="15" name="Shape 13"/>
          <p:cNvSpPr/>
          <p:nvPr/>
        </p:nvSpPr>
        <p:spPr>
          <a:xfrm>
            <a:off x="685800" y="4791456"/>
            <a:ext cx="3383280" cy="0"/>
          </a:xfrm>
          <a:prstGeom prst="line">
            <a:avLst/>
          </a:prstGeom>
          <a:noFill/>
          <a:ln w="12700">
            <a:solidFill>
              <a:srgbClr val="2A3FA0"/>
            </a:solidFill>
            <a:prstDash val="solid"/>
          </a:ln>
        </p:spPr>
      </p:sp>
      <p:sp>
        <p:nvSpPr>
          <p:cNvPr id="16" name="Text 14"/>
          <p:cNvSpPr/>
          <p:nvPr/>
        </p:nvSpPr>
        <p:spPr>
          <a:xfrm>
            <a:off x="685800" y="4846320"/>
            <a:ext cx="2011680" cy="365760"/>
          </a:xfrm>
          <a:prstGeom prst="rect">
            <a:avLst/>
          </a:prstGeom>
          <a:noFill/>
          <a:ln/>
        </p:spPr>
        <p:txBody>
          <a:bodyPr wrap="square" rtlCol="0" anchor="ctr"/>
          <a:lstStyle/>
          <a:p>
            <a:pPr indent="0" marL="0">
              <a:buNone/>
            </a:pPr>
            <a:r>
              <a:rPr lang="en-US" sz="1100" dirty="0">
                <a:solidFill>
                  <a:srgbClr val="9AA7D6"/>
                </a:solidFill>
                <a:latin typeface="Calibri" pitchFamily="34" charset="0"/>
                <a:ea typeface="Calibri" pitchFamily="34" charset="-122"/>
                <a:cs typeface="Calibri" pitchFamily="34" charset="-120"/>
              </a:rPr>
              <a:t>Pre-DM fraud rate</a:t>
            </a:r>
            <a:endParaRPr lang="en-US" sz="1100" dirty="0"/>
          </a:p>
        </p:txBody>
      </p:sp>
      <p:sp>
        <p:nvSpPr>
          <p:cNvPr id="17" name="Text 15"/>
          <p:cNvSpPr/>
          <p:nvPr/>
        </p:nvSpPr>
        <p:spPr>
          <a:xfrm>
            <a:off x="2697480" y="4846320"/>
            <a:ext cx="1371600" cy="365760"/>
          </a:xfrm>
          <a:prstGeom prst="rect">
            <a:avLst/>
          </a:prstGeom>
          <a:noFill/>
          <a:ln/>
        </p:spPr>
        <p:txBody>
          <a:bodyPr wrap="square" rtlCol="0" anchor="ctr"/>
          <a:lstStyle/>
          <a:p>
            <a:pPr algn="r" indent="0" marL="0">
              <a:buNone/>
            </a:pPr>
            <a:r>
              <a:rPr lang="en-US" sz="1400" b="1" dirty="0">
                <a:solidFill>
                  <a:srgbClr val="F7B600"/>
                </a:solidFill>
                <a:latin typeface="Calibri" pitchFamily="34" charset="0"/>
                <a:ea typeface="Calibri" pitchFamily="34" charset="-122"/>
                <a:cs typeface="Calibri" pitchFamily="34" charset="-120"/>
              </a:rPr>
              <a:t>1.45%</a:t>
            </a:r>
            <a:endParaRPr lang="en-US" sz="1400" dirty="0"/>
          </a:p>
        </p:txBody>
      </p:sp>
      <p:sp>
        <p:nvSpPr>
          <p:cNvPr id="18" name="Shape 16"/>
          <p:cNvSpPr/>
          <p:nvPr/>
        </p:nvSpPr>
        <p:spPr>
          <a:xfrm>
            <a:off x="685800" y="5358384"/>
            <a:ext cx="3383280" cy="0"/>
          </a:xfrm>
          <a:prstGeom prst="line">
            <a:avLst/>
          </a:prstGeom>
          <a:noFill/>
          <a:ln w="12700">
            <a:solidFill>
              <a:srgbClr val="2A3FA0"/>
            </a:solidFill>
            <a:prstDash val="solid"/>
          </a:ln>
        </p:spPr>
      </p:sp>
      <p:sp>
        <p:nvSpPr>
          <p:cNvPr id="19" name="Text 17"/>
          <p:cNvSpPr/>
          <p:nvPr/>
        </p:nvSpPr>
        <p:spPr>
          <a:xfrm>
            <a:off x="685800" y="5413248"/>
            <a:ext cx="2011680" cy="365760"/>
          </a:xfrm>
          <a:prstGeom prst="rect">
            <a:avLst/>
          </a:prstGeom>
          <a:noFill/>
          <a:ln/>
        </p:spPr>
        <p:txBody>
          <a:bodyPr wrap="square" rtlCol="0" anchor="ctr"/>
          <a:lstStyle/>
          <a:p>
            <a:pPr indent="0" marL="0">
              <a:buNone/>
            </a:pPr>
            <a:r>
              <a:rPr lang="en-US" sz="1100" dirty="0">
                <a:solidFill>
                  <a:srgbClr val="9AA7D6"/>
                </a:solidFill>
                <a:latin typeface="Calibri" pitchFamily="34" charset="0"/>
                <a:ea typeface="Calibri" pitchFamily="34" charset="-122"/>
                <a:cs typeface="Calibri" pitchFamily="34" charset="-120"/>
              </a:rPr>
              <a:t>Pre-DM manual review</a:t>
            </a:r>
            <a:endParaRPr lang="en-US" sz="1100" dirty="0"/>
          </a:p>
        </p:txBody>
      </p:sp>
      <p:sp>
        <p:nvSpPr>
          <p:cNvPr id="20" name="Text 18"/>
          <p:cNvSpPr/>
          <p:nvPr/>
        </p:nvSpPr>
        <p:spPr>
          <a:xfrm>
            <a:off x="2697480" y="5413248"/>
            <a:ext cx="1371600" cy="365760"/>
          </a:xfrm>
          <a:prstGeom prst="rect">
            <a:avLst/>
          </a:prstGeom>
          <a:noFill/>
          <a:ln/>
        </p:spPr>
        <p:txBody>
          <a:bodyPr wrap="square" rtlCol="0" anchor="ctr"/>
          <a:lstStyle/>
          <a:p>
            <a:pPr algn="r" indent="0" marL="0">
              <a:buNone/>
            </a:pPr>
            <a:r>
              <a:rPr lang="en-US" sz="1400" b="1" dirty="0">
                <a:solidFill>
                  <a:srgbClr val="F7B600"/>
                </a:solidFill>
                <a:latin typeface="Calibri" pitchFamily="34" charset="0"/>
                <a:ea typeface="Calibri" pitchFamily="34" charset="-122"/>
                <a:cs typeface="Calibri" pitchFamily="34" charset="-120"/>
              </a:rPr>
              <a:t>12%</a:t>
            </a:r>
            <a:endParaRPr lang="en-US" sz="1400" dirty="0"/>
          </a:p>
        </p:txBody>
      </p:sp>
      <p:sp>
        <p:nvSpPr>
          <p:cNvPr id="21" name="Text 19"/>
          <p:cNvSpPr/>
          <p:nvPr/>
        </p:nvSpPr>
        <p:spPr>
          <a:xfrm>
            <a:off x="685800" y="5989320"/>
            <a:ext cx="3520440" cy="274320"/>
          </a:xfrm>
          <a:prstGeom prst="rect">
            <a:avLst/>
          </a:prstGeom>
          <a:noFill/>
          <a:ln/>
        </p:spPr>
        <p:txBody>
          <a:bodyPr wrap="square" rtlCol="0" anchor="ctr"/>
          <a:lstStyle/>
          <a:p>
            <a:pPr indent="0" marL="0">
              <a:buNone/>
            </a:pPr>
            <a:r>
              <a:rPr lang="en-US" sz="850" i="1" dirty="0">
                <a:solidFill>
                  <a:srgbClr val="9AA7D6"/>
                </a:solidFill>
                <a:latin typeface="Calibri" pitchFamily="34" charset="0"/>
                <a:ea typeface="Calibri" pitchFamily="34" charset="-122"/>
                <a:cs typeface="Calibri" pitchFamily="34" charset="-120"/>
              </a:rPr>
              <a:t>*Composite case based on Visa client engagements.</a:t>
            </a:r>
            <a:endParaRPr lang="en-US" sz="850" dirty="0"/>
          </a:p>
        </p:txBody>
      </p:sp>
      <p:sp>
        <p:nvSpPr>
          <p:cNvPr id="22" name="Shape 20"/>
          <p:cNvSpPr/>
          <p:nvPr/>
        </p:nvSpPr>
        <p:spPr>
          <a:xfrm>
            <a:off x="4526280" y="1691640"/>
            <a:ext cx="7223760" cy="1463040"/>
          </a:xfrm>
          <a:prstGeom prst="roundRect">
            <a:avLst>
              <a:gd name="adj" fmla="val 5000"/>
            </a:avLst>
          </a:prstGeom>
          <a:solidFill>
            <a:srgbClr val="FFFFFF"/>
          </a:solidFill>
          <a:ln w="12700">
            <a:solidFill>
              <a:srgbClr val="E3E7F1"/>
            </a:solidFill>
            <a:prstDash val="solid"/>
          </a:ln>
        </p:spPr>
      </p:sp>
      <p:sp>
        <p:nvSpPr>
          <p:cNvPr id="23" name="Shape 21"/>
          <p:cNvSpPr/>
          <p:nvPr/>
        </p:nvSpPr>
        <p:spPr>
          <a:xfrm>
            <a:off x="4526280" y="1691640"/>
            <a:ext cx="91440" cy="1463040"/>
          </a:xfrm>
          <a:prstGeom prst="rect">
            <a:avLst/>
          </a:prstGeom>
          <a:solidFill>
            <a:srgbClr val="F7B600"/>
          </a:solidFill>
          <a:ln w="12700">
            <a:solidFill>
              <a:srgbClr val="F7B600"/>
            </a:solidFill>
            <a:prstDash val="solid"/>
          </a:ln>
        </p:spPr>
      </p:sp>
      <p:sp>
        <p:nvSpPr>
          <p:cNvPr id="24" name="Text 22"/>
          <p:cNvSpPr/>
          <p:nvPr/>
        </p:nvSpPr>
        <p:spPr>
          <a:xfrm>
            <a:off x="4709160" y="1801368"/>
            <a:ext cx="6949440" cy="274320"/>
          </a:xfrm>
          <a:prstGeom prst="rect">
            <a:avLst/>
          </a:prstGeom>
          <a:noFill/>
          <a:ln/>
        </p:spPr>
        <p:txBody>
          <a:bodyPr wrap="square" rtlCol="0" anchor="ctr"/>
          <a:lstStyle/>
          <a:p>
            <a:pPr indent="0" marL="0">
              <a:buNone/>
            </a:pPr>
            <a:r>
              <a:rPr lang="en-US" sz="1100" b="1" spc="300" kern="0" dirty="0">
                <a:solidFill>
                  <a:srgbClr val="1A1F71"/>
                </a:solidFill>
                <a:latin typeface="Calibri" pitchFamily="34" charset="0"/>
                <a:ea typeface="Calibri" pitchFamily="34" charset="-122"/>
                <a:cs typeface="Calibri" pitchFamily="34" charset="-120"/>
              </a:rPr>
              <a:t>THE CHALLENGE</a:t>
            </a:r>
            <a:endParaRPr lang="en-US" sz="1100" dirty="0"/>
          </a:p>
        </p:txBody>
      </p:sp>
      <p:sp>
        <p:nvSpPr>
          <p:cNvPr id="25" name="Text 23"/>
          <p:cNvSpPr/>
          <p:nvPr/>
        </p:nvSpPr>
        <p:spPr>
          <a:xfrm>
            <a:off x="4709160" y="2075688"/>
            <a:ext cx="6949440" cy="1051560"/>
          </a:xfrm>
          <a:prstGeom prst="rect">
            <a:avLst/>
          </a:prstGeom>
          <a:noFill/>
          <a:ln/>
        </p:spPr>
        <p:txBody>
          <a:bodyPr wrap="square" rtlCol="0" anchor="ctr"/>
          <a:lstStyle/>
          <a:p>
            <a:pPr indent="0" marL="0">
              <a:buNone/>
            </a:pPr>
            <a:r>
              <a:rPr lang="en-US" sz="1100" dirty="0">
                <a:solidFill>
                  <a:srgbClr val="0B1437"/>
                </a:solidFill>
                <a:latin typeface="Calibri" pitchFamily="34" charset="0"/>
                <a:ea typeface="Calibri" pitchFamily="34" charset="-122"/>
                <a:cs typeface="Calibri" pitchFamily="34" charset="-120"/>
              </a:rPr>
              <a:t>After moving 70% of ticketing online, SkyConnect saw chargebacks climb to 1.45% of GMV — well above the 1% card-scheme threshold. The legacy rules-based engine was producing 12% manual review rates, slowing checkout and frustrating customers. Fraud rings were exploiting last-minute international bookings, where high ticket prices and fast delivery made losses irrecoverable.</a:t>
            </a:r>
            <a:endParaRPr lang="en-US" sz="1100" dirty="0"/>
          </a:p>
        </p:txBody>
      </p:sp>
      <p:sp>
        <p:nvSpPr>
          <p:cNvPr id="26" name="Shape 24"/>
          <p:cNvSpPr/>
          <p:nvPr/>
        </p:nvSpPr>
        <p:spPr>
          <a:xfrm>
            <a:off x="4526280" y="3246120"/>
            <a:ext cx="7223760" cy="1463040"/>
          </a:xfrm>
          <a:prstGeom prst="roundRect">
            <a:avLst>
              <a:gd name="adj" fmla="val 5000"/>
            </a:avLst>
          </a:prstGeom>
          <a:solidFill>
            <a:srgbClr val="FFFFFF"/>
          </a:solidFill>
          <a:ln w="12700">
            <a:solidFill>
              <a:srgbClr val="E3E7F1"/>
            </a:solidFill>
            <a:prstDash val="solid"/>
          </a:ln>
        </p:spPr>
      </p:sp>
      <p:sp>
        <p:nvSpPr>
          <p:cNvPr id="27" name="Shape 25"/>
          <p:cNvSpPr/>
          <p:nvPr/>
        </p:nvSpPr>
        <p:spPr>
          <a:xfrm>
            <a:off x="4526280" y="3246120"/>
            <a:ext cx="91440" cy="1463040"/>
          </a:xfrm>
          <a:prstGeom prst="rect">
            <a:avLst/>
          </a:prstGeom>
          <a:solidFill>
            <a:srgbClr val="F7B600"/>
          </a:solidFill>
          <a:ln w="12700">
            <a:solidFill>
              <a:srgbClr val="F7B600"/>
            </a:solidFill>
            <a:prstDash val="solid"/>
          </a:ln>
        </p:spPr>
      </p:sp>
      <p:sp>
        <p:nvSpPr>
          <p:cNvPr id="28" name="Text 26"/>
          <p:cNvSpPr/>
          <p:nvPr/>
        </p:nvSpPr>
        <p:spPr>
          <a:xfrm>
            <a:off x="4709160" y="3355848"/>
            <a:ext cx="6949440" cy="274320"/>
          </a:xfrm>
          <a:prstGeom prst="rect">
            <a:avLst/>
          </a:prstGeom>
          <a:noFill/>
          <a:ln/>
        </p:spPr>
        <p:txBody>
          <a:bodyPr wrap="square" rtlCol="0" anchor="ctr"/>
          <a:lstStyle/>
          <a:p>
            <a:pPr indent="0" marL="0">
              <a:buNone/>
            </a:pPr>
            <a:r>
              <a:rPr lang="en-US" sz="1100" b="1" spc="300" kern="0" dirty="0">
                <a:solidFill>
                  <a:srgbClr val="1A1F71"/>
                </a:solidFill>
                <a:latin typeface="Calibri" pitchFamily="34" charset="0"/>
                <a:ea typeface="Calibri" pitchFamily="34" charset="-122"/>
                <a:cs typeface="Calibri" pitchFamily="34" charset="-120"/>
              </a:rPr>
              <a:t>THE SOLUTION</a:t>
            </a:r>
            <a:endParaRPr lang="en-US" sz="1100" dirty="0"/>
          </a:p>
        </p:txBody>
      </p:sp>
      <p:sp>
        <p:nvSpPr>
          <p:cNvPr id="29" name="Text 27"/>
          <p:cNvSpPr/>
          <p:nvPr/>
        </p:nvSpPr>
        <p:spPr>
          <a:xfrm>
            <a:off x="4709160" y="3630168"/>
            <a:ext cx="6949440" cy="1051560"/>
          </a:xfrm>
          <a:prstGeom prst="rect">
            <a:avLst/>
          </a:prstGeom>
          <a:noFill/>
          <a:ln/>
        </p:spPr>
        <p:txBody>
          <a:bodyPr wrap="square" rtlCol="0" anchor="ctr"/>
          <a:lstStyle/>
          <a:p>
            <a:pPr indent="0" marL="0">
              <a:buNone/>
            </a:pPr>
            <a:r>
              <a:rPr lang="en-US" sz="1100" dirty="0">
                <a:solidFill>
                  <a:srgbClr val="0B1437"/>
                </a:solidFill>
                <a:latin typeface="Calibri" pitchFamily="34" charset="0"/>
                <a:ea typeface="Calibri" pitchFamily="34" charset="-122"/>
                <a:cs typeface="Calibri" pitchFamily="34" charset="-120"/>
              </a:rPr>
              <a:t>Visa deployed Decision Manager with custom airline models, integrating it into the booking flow via REST API. The implementation combined Visa's global ML risk score, 14 custom velocity rules, device fingerprinting, and 3-D Secure step-up for medium-risk transactions. A 6-week tuning cycle calibrated thresholds per route, channel, and BIN range.</a:t>
            </a:r>
            <a:endParaRPr lang="en-US" sz="1100" dirty="0"/>
          </a:p>
        </p:txBody>
      </p:sp>
      <p:sp>
        <p:nvSpPr>
          <p:cNvPr id="30" name="Shape 28"/>
          <p:cNvSpPr/>
          <p:nvPr/>
        </p:nvSpPr>
        <p:spPr>
          <a:xfrm>
            <a:off x="4526280" y="4800600"/>
            <a:ext cx="7223760" cy="1463040"/>
          </a:xfrm>
          <a:prstGeom prst="roundRect">
            <a:avLst>
              <a:gd name="adj" fmla="val 5000"/>
            </a:avLst>
          </a:prstGeom>
          <a:solidFill>
            <a:srgbClr val="FFFFFF"/>
          </a:solidFill>
          <a:ln w="12700">
            <a:solidFill>
              <a:srgbClr val="E3E7F1"/>
            </a:solidFill>
            <a:prstDash val="solid"/>
          </a:ln>
        </p:spPr>
      </p:sp>
      <p:sp>
        <p:nvSpPr>
          <p:cNvPr id="31" name="Shape 29"/>
          <p:cNvSpPr/>
          <p:nvPr/>
        </p:nvSpPr>
        <p:spPr>
          <a:xfrm>
            <a:off x="4526280" y="4800600"/>
            <a:ext cx="91440" cy="1463040"/>
          </a:xfrm>
          <a:prstGeom prst="rect">
            <a:avLst/>
          </a:prstGeom>
          <a:solidFill>
            <a:srgbClr val="F7B600"/>
          </a:solidFill>
          <a:ln w="12700">
            <a:solidFill>
              <a:srgbClr val="F7B600"/>
            </a:solidFill>
            <a:prstDash val="solid"/>
          </a:ln>
        </p:spPr>
      </p:sp>
      <p:sp>
        <p:nvSpPr>
          <p:cNvPr id="32" name="Text 30"/>
          <p:cNvSpPr/>
          <p:nvPr/>
        </p:nvSpPr>
        <p:spPr>
          <a:xfrm>
            <a:off x="4709160" y="4910328"/>
            <a:ext cx="6949440" cy="274320"/>
          </a:xfrm>
          <a:prstGeom prst="rect">
            <a:avLst/>
          </a:prstGeom>
          <a:noFill/>
          <a:ln/>
        </p:spPr>
        <p:txBody>
          <a:bodyPr wrap="square" rtlCol="0" anchor="ctr"/>
          <a:lstStyle/>
          <a:p>
            <a:pPr indent="0" marL="0">
              <a:buNone/>
            </a:pPr>
            <a:r>
              <a:rPr lang="en-US" sz="1100" b="1" spc="300" kern="0" dirty="0">
                <a:solidFill>
                  <a:srgbClr val="1A1F71"/>
                </a:solidFill>
                <a:latin typeface="Calibri" pitchFamily="34" charset="0"/>
                <a:ea typeface="Calibri" pitchFamily="34" charset="-122"/>
                <a:cs typeface="Calibri" pitchFamily="34" charset="-120"/>
              </a:rPr>
              <a:t>THE OUTCOME</a:t>
            </a:r>
            <a:endParaRPr lang="en-US" sz="1100" dirty="0"/>
          </a:p>
        </p:txBody>
      </p:sp>
      <p:sp>
        <p:nvSpPr>
          <p:cNvPr id="33" name="Text 31"/>
          <p:cNvSpPr/>
          <p:nvPr/>
        </p:nvSpPr>
        <p:spPr>
          <a:xfrm>
            <a:off x="4709160" y="5184648"/>
            <a:ext cx="6949440" cy="1051560"/>
          </a:xfrm>
          <a:prstGeom prst="rect">
            <a:avLst/>
          </a:prstGeom>
          <a:noFill/>
          <a:ln/>
        </p:spPr>
        <p:txBody>
          <a:bodyPr wrap="square" rtlCol="0" anchor="ctr"/>
          <a:lstStyle/>
          <a:p>
            <a:pPr indent="0" marL="0">
              <a:buNone/>
            </a:pPr>
            <a:r>
              <a:rPr lang="en-US" sz="1100" dirty="0">
                <a:solidFill>
                  <a:srgbClr val="0B1437"/>
                </a:solidFill>
                <a:latin typeface="Calibri" pitchFamily="34" charset="0"/>
                <a:ea typeface="Calibri" pitchFamily="34" charset="-122"/>
                <a:cs typeface="Calibri" pitchFamily="34" charset="-120"/>
              </a:rPr>
              <a:t>Within 90 days post go-live, chargebacks fell from 1.45% to 0.87% of GMV — a 40% reduction. Manual reviews dropped from 12% to 3.2%, freeing 28 FTEs for higher-value work. False positives decreased 52%, lifting approval rates by 3.1 percentage points and recovering an estimated $47M in previously declined legitimate revenue annually.</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04  •  CASE STUDY RESULTS</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Measurable improvement across every KPI</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graphicFrame>
        <p:nvGraphicFramePr>
          <p:cNvPr id="5" name="Chart 0" descr=""/>
          <p:cNvGraphicFramePr/>
          <p:nvPr/>
        </p:nvGraphicFramePr>
        <p:xfrm>
          <a:off x="457200" y="169164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691640"/>
            <a:ext cx="4160520" cy="822960"/>
          </a:xfrm>
          <a:prstGeom prst="roundRect">
            <a:avLst>
              <a:gd name="adj" fmla="val 8889"/>
            </a:avLst>
          </a:prstGeom>
          <a:solidFill>
            <a:srgbClr val="FFFFFF"/>
          </a:solidFill>
          <a:ln w="12700">
            <a:solidFill>
              <a:srgbClr val="E3E7F1"/>
            </a:solidFill>
            <a:prstDash val="solid"/>
          </a:ln>
        </p:spPr>
      </p:sp>
      <p:sp>
        <p:nvSpPr>
          <p:cNvPr id="7" name="Text 4"/>
          <p:cNvSpPr/>
          <p:nvPr/>
        </p:nvSpPr>
        <p:spPr>
          <a:xfrm>
            <a:off x="7726680" y="1783080"/>
            <a:ext cx="1554480" cy="640080"/>
          </a:xfrm>
          <a:prstGeom prst="rect">
            <a:avLst/>
          </a:prstGeom>
          <a:noFill/>
          <a:ln/>
        </p:spPr>
        <p:txBody>
          <a:bodyPr wrap="square" rtlCol="0" anchor="ctr"/>
          <a:lstStyle/>
          <a:p>
            <a:pPr indent="0" marL="0">
              <a:buNone/>
            </a:pPr>
            <a:r>
              <a:rPr lang="en-US" sz="2200" b="1" dirty="0">
                <a:solidFill>
                  <a:srgbClr val="1F9D55"/>
                </a:solidFill>
                <a:latin typeface="Calibri" pitchFamily="34" charset="0"/>
                <a:ea typeface="Calibri" pitchFamily="34" charset="-122"/>
                <a:cs typeface="Calibri" pitchFamily="34" charset="-120"/>
              </a:rPr>
              <a:t>▼ 40%</a:t>
            </a:r>
            <a:endParaRPr lang="en-US" sz="2200" dirty="0"/>
          </a:p>
        </p:txBody>
      </p:sp>
      <p:sp>
        <p:nvSpPr>
          <p:cNvPr id="8" name="Text 5"/>
          <p:cNvSpPr/>
          <p:nvPr/>
        </p:nvSpPr>
        <p:spPr>
          <a:xfrm>
            <a:off x="9326880" y="1783080"/>
            <a:ext cx="2377440" cy="640080"/>
          </a:xfrm>
          <a:prstGeom prst="rect">
            <a:avLst/>
          </a:prstGeom>
          <a:noFill/>
          <a:ln/>
        </p:spPr>
        <p:txBody>
          <a:bodyPr wrap="square" rtlCol="0" anchor="ctr"/>
          <a:lstStyle/>
          <a:p>
            <a:pPr indent="0" marL="0">
              <a:buNone/>
            </a:pPr>
            <a:r>
              <a:rPr lang="en-US" sz="1200" dirty="0">
                <a:solidFill>
                  <a:srgbClr val="0B1437"/>
                </a:solidFill>
                <a:latin typeface="Calibri" pitchFamily="34" charset="0"/>
                <a:ea typeface="Calibri" pitchFamily="34" charset="-122"/>
                <a:cs typeface="Calibri" pitchFamily="34" charset="-120"/>
              </a:rPr>
              <a:t>Chargeback rate reduction</a:t>
            </a:r>
            <a:endParaRPr lang="en-US" sz="1200" dirty="0"/>
          </a:p>
        </p:txBody>
      </p:sp>
      <p:sp>
        <p:nvSpPr>
          <p:cNvPr id="9" name="Shape 6"/>
          <p:cNvSpPr/>
          <p:nvPr/>
        </p:nvSpPr>
        <p:spPr>
          <a:xfrm>
            <a:off x="7589520" y="2606040"/>
            <a:ext cx="4160520" cy="822960"/>
          </a:xfrm>
          <a:prstGeom prst="roundRect">
            <a:avLst>
              <a:gd name="adj" fmla="val 8889"/>
            </a:avLst>
          </a:prstGeom>
          <a:solidFill>
            <a:srgbClr val="FFFFFF"/>
          </a:solidFill>
          <a:ln w="12700">
            <a:solidFill>
              <a:srgbClr val="E3E7F1"/>
            </a:solidFill>
            <a:prstDash val="solid"/>
          </a:ln>
        </p:spPr>
      </p:sp>
      <p:sp>
        <p:nvSpPr>
          <p:cNvPr id="10" name="Text 7"/>
          <p:cNvSpPr/>
          <p:nvPr/>
        </p:nvSpPr>
        <p:spPr>
          <a:xfrm>
            <a:off x="7726680" y="2697480"/>
            <a:ext cx="1554480" cy="640080"/>
          </a:xfrm>
          <a:prstGeom prst="rect">
            <a:avLst/>
          </a:prstGeom>
          <a:noFill/>
          <a:ln/>
        </p:spPr>
        <p:txBody>
          <a:bodyPr wrap="square" rtlCol="0" anchor="ctr"/>
          <a:lstStyle/>
          <a:p>
            <a:pPr indent="0" marL="0">
              <a:buNone/>
            </a:pPr>
            <a:r>
              <a:rPr lang="en-US" sz="2200" b="1" dirty="0">
                <a:solidFill>
                  <a:srgbClr val="1F9D55"/>
                </a:solidFill>
                <a:latin typeface="Calibri" pitchFamily="34" charset="0"/>
                <a:ea typeface="Calibri" pitchFamily="34" charset="-122"/>
                <a:cs typeface="Calibri" pitchFamily="34" charset="-120"/>
              </a:rPr>
              <a:t>▼ 73%</a:t>
            </a:r>
            <a:endParaRPr lang="en-US" sz="2200" dirty="0"/>
          </a:p>
        </p:txBody>
      </p:sp>
      <p:sp>
        <p:nvSpPr>
          <p:cNvPr id="11" name="Text 8"/>
          <p:cNvSpPr/>
          <p:nvPr/>
        </p:nvSpPr>
        <p:spPr>
          <a:xfrm>
            <a:off x="9326880" y="2697480"/>
            <a:ext cx="2377440" cy="640080"/>
          </a:xfrm>
          <a:prstGeom prst="rect">
            <a:avLst/>
          </a:prstGeom>
          <a:noFill/>
          <a:ln/>
        </p:spPr>
        <p:txBody>
          <a:bodyPr wrap="square" rtlCol="0" anchor="ctr"/>
          <a:lstStyle/>
          <a:p>
            <a:pPr indent="0" marL="0">
              <a:buNone/>
            </a:pPr>
            <a:r>
              <a:rPr lang="en-US" sz="1200" dirty="0">
                <a:solidFill>
                  <a:srgbClr val="0B1437"/>
                </a:solidFill>
                <a:latin typeface="Calibri" pitchFamily="34" charset="0"/>
                <a:ea typeface="Calibri" pitchFamily="34" charset="-122"/>
                <a:cs typeface="Calibri" pitchFamily="34" charset="-120"/>
              </a:rPr>
              <a:t>Manual review queue</a:t>
            </a:r>
            <a:endParaRPr lang="en-US" sz="1200" dirty="0"/>
          </a:p>
        </p:txBody>
      </p:sp>
      <p:sp>
        <p:nvSpPr>
          <p:cNvPr id="12" name="Shape 9"/>
          <p:cNvSpPr/>
          <p:nvPr/>
        </p:nvSpPr>
        <p:spPr>
          <a:xfrm>
            <a:off x="7589520" y="3520440"/>
            <a:ext cx="4160520" cy="822960"/>
          </a:xfrm>
          <a:prstGeom prst="roundRect">
            <a:avLst>
              <a:gd name="adj" fmla="val 8889"/>
            </a:avLst>
          </a:prstGeom>
          <a:solidFill>
            <a:srgbClr val="FFFFFF"/>
          </a:solidFill>
          <a:ln w="12700">
            <a:solidFill>
              <a:srgbClr val="E3E7F1"/>
            </a:solidFill>
            <a:prstDash val="solid"/>
          </a:ln>
        </p:spPr>
      </p:sp>
      <p:sp>
        <p:nvSpPr>
          <p:cNvPr id="13" name="Text 10"/>
          <p:cNvSpPr/>
          <p:nvPr/>
        </p:nvSpPr>
        <p:spPr>
          <a:xfrm>
            <a:off x="7726680" y="3611880"/>
            <a:ext cx="1554480" cy="640080"/>
          </a:xfrm>
          <a:prstGeom prst="rect">
            <a:avLst/>
          </a:prstGeom>
          <a:noFill/>
          <a:ln/>
        </p:spPr>
        <p:txBody>
          <a:bodyPr wrap="square" rtlCol="0" anchor="ctr"/>
          <a:lstStyle/>
          <a:p>
            <a:pPr indent="0" marL="0">
              <a:buNone/>
            </a:pPr>
            <a:r>
              <a:rPr lang="en-US" sz="2200" b="1" dirty="0">
                <a:solidFill>
                  <a:srgbClr val="1F9D55"/>
                </a:solidFill>
                <a:latin typeface="Calibri" pitchFamily="34" charset="0"/>
                <a:ea typeface="Calibri" pitchFamily="34" charset="-122"/>
                <a:cs typeface="Calibri" pitchFamily="34" charset="-120"/>
              </a:rPr>
              <a:t>▼ 52%</a:t>
            </a:r>
            <a:endParaRPr lang="en-US" sz="2200" dirty="0"/>
          </a:p>
        </p:txBody>
      </p:sp>
      <p:sp>
        <p:nvSpPr>
          <p:cNvPr id="14" name="Text 11"/>
          <p:cNvSpPr/>
          <p:nvPr/>
        </p:nvSpPr>
        <p:spPr>
          <a:xfrm>
            <a:off x="9326880" y="3611880"/>
            <a:ext cx="2377440" cy="640080"/>
          </a:xfrm>
          <a:prstGeom prst="rect">
            <a:avLst/>
          </a:prstGeom>
          <a:noFill/>
          <a:ln/>
        </p:spPr>
        <p:txBody>
          <a:bodyPr wrap="square" rtlCol="0" anchor="ctr"/>
          <a:lstStyle/>
          <a:p>
            <a:pPr indent="0" marL="0">
              <a:buNone/>
            </a:pPr>
            <a:r>
              <a:rPr lang="en-US" sz="1200" dirty="0">
                <a:solidFill>
                  <a:srgbClr val="0B1437"/>
                </a:solidFill>
                <a:latin typeface="Calibri" pitchFamily="34" charset="0"/>
                <a:ea typeface="Calibri" pitchFamily="34" charset="-122"/>
                <a:cs typeface="Calibri" pitchFamily="34" charset="-120"/>
              </a:rPr>
              <a:t>False positives</a:t>
            </a:r>
            <a:endParaRPr lang="en-US" sz="1200" dirty="0"/>
          </a:p>
        </p:txBody>
      </p:sp>
      <p:sp>
        <p:nvSpPr>
          <p:cNvPr id="15" name="Shape 12"/>
          <p:cNvSpPr/>
          <p:nvPr/>
        </p:nvSpPr>
        <p:spPr>
          <a:xfrm>
            <a:off x="7589520" y="4434840"/>
            <a:ext cx="4160520" cy="822960"/>
          </a:xfrm>
          <a:prstGeom prst="roundRect">
            <a:avLst>
              <a:gd name="adj" fmla="val 8889"/>
            </a:avLst>
          </a:prstGeom>
          <a:solidFill>
            <a:srgbClr val="FFFFFF"/>
          </a:solidFill>
          <a:ln w="12700">
            <a:solidFill>
              <a:srgbClr val="E3E7F1"/>
            </a:solidFill>
            <a:prstDash val="solid"/>
          </a:ln>
        </p:spPr>
      </p:sp>
      <p:sp>
        <p:nvSpPr>
          <p:cNvPr id="16" name="Text 13"/>
          <p:cNvSpPr/>
          <p:nvPr/>
        </p:nvSpPr>
        <p:spPr>
          <a:xfrm>
            <a:off x="7726680" y="4526280"/>
            <a:ext cx="1554480" cy="640080"/>
          </a:xfrm>
          <a:prstGeom prst="rect">
            <a:avLst/>
          </a:prstGeom>
          <a:noFill/>
          <a:ln/>
        </p:spPr>
        <p:txBody>
          <a:bodyPr wrap="square" rtlCol="0" anchor="ctr"/>
          <a:lstStyle/>
          <a:p>
            <a:pPr indent="0" marL="0">
              <a:buNone/>
            </a:pPr>
            <a:r>
              <a:rPr lang="en-US" sz="2200" b="1" dirty="0">
                <a:solidFill>
                  <a:srgbClr val="F7B600"/>
                </a:solidFill>
                <a:latin typeface="Calibri" pitchFamily="34" charset="0"/>
                <a:ea typeface="Calibri" pitchFamily="34" charset="-122"/>
                <a:cs typeface="Calibri" pitchFamily="34" charset="-120"/>
              </a:rPr>
              <a:t>▲ 3.1 pp</a:t>
            </a:r>
            <a:endParaRPr lang="en-US" sz="2200" dirty="0"/>
          </a:p>
        </p:txBody>
      </p:sp>
      <p:sp>
        <p:nvSpPr>
          <p:cNvPr id="17" name="Text 14"/>
          <p:cNvSpPr/>
          <p:nvPr/>
        </p:nvSpPr>
        <p:spPr>
          <a:xfrm>
            <a:off x="9326880" y="4526280"/>
            <a:ext cx="2377440" cy="640080"/>
          </a:xfrm>
          <a:prstGeom prst="rect">
            <a:avLst/>
          </a:prstGeom>
          <a:noFill/>
          <a:ln/>
        </p:spPr>
        <p:txBody>
          <a:bodyPr wrap="square" rtlCol="0" anchor="ctr"/>
          <a:lstStyle/>
          <a:p>
            <a:pPr indent="0" marL="0">
              <a:buNone/>
            </a:pPr>
            <a:r>
              <a:rPr lang="en-US" sz="1200" dirty="0">
                <a:solidFill>
                  <a:srgbClr val="0B1437"/>
                </a:solidFill>
                <a:latin typeface="Calibri" pitchFamily="34" charset="0"/>
                <a:ea typeface="Calibri" pitchFamily="34" charset="-122"/>
                <a:cs typeface="Calibri" pitchFamily="34" charset="-120"/>
              </a:rPr>
              <a:t>Approval rate uplift</a:t>
            </a:r>
            <a:endParaRPr lang="en-US" sz="1200" dirty="0"/>
          </a:p>
        </p:txBody>
      </p:sp>
      <p:sp>
        <p:nvSpPr>
          <p:cNvPr id="18" name="Shape 15"/>
          <p:cNvSpPr/>
          <p:nvPr/>
        </p:nvSpPr>
        <p:spPr>
          <a:xfrm>
            <a:off x="7589520" y="5349240"/>
            <a:ext cx="4160520" cy="822960"/>
          </a:xfrm>
          <a:prstGeom prst="roundRect">
            <a:avLst>
              <a:gd name="adj" fmla="val 8889"/>
            </a:avLst>
          </a:prstGeom>
          <a:solidFill>
            <a:srgbClr val="FFFFFF"/>
          </a:solidFill>
          <a:ln w="12700">
            <a:solidFill>
              <a:srgbClr val="E3E7F1"/>
            </a:solidFill>
            <a:prstDash val="solid"/>
          </a:ln>
        </p:spPr>
      </p:sp>
      <p:sp>
        <p:nvSpPr>
          <p:cNvPr id="19" name="Text 16"/>
          <p:cNvSpPr/>
          <p:nvPr/>
        </p:nvSpPr>
        <p:spPr>
          <a:xfrm>
            <a:off x="7726680" y="5440680"/>
            <a:ext cx="1554480" cy="640080"/>
          </a:xfrm>
          <a:prstGeom prst="rect">
            <a:avLst/>
          </a:prstGeom>
          <a:noFill/>
          <a:ln/>
        </p:spPr>
        <p:txBody>
          <a:bodyPr wrap="square" rtlCol="0" anchor="ctr"/>
          <a:lstStyle/>
          <a:p>
            <a:pPr indent="0" marL="0">
              <a:buNone/>
            </a:pPr>
            <a:r>
              <a:rPr lang="en-US" sz="2200" b="1" dirty="0">
                <a:solidFill>
                  <a:srgbClr val="F7B600"/>
                </a:solidFill>
                <a:latin typeface="Calibri" pitchFamily="34" charset="0"/>
                <a:ea typeface="Calibri" pitchFamily="34" charset="-122"/>
                <a:cs typeface="Calibri" pitchFamily="34" charset="-120"/>
              </a:rPr>
              <a:t>$ 47M</a:t>
            </a:r>
            <a:endParaRPr lang="en-US" sz="2200" dirty="0"/>
          </a:p>
        </p:txBody>
      </p:sp>
      <p:sp>
        <p:nvSpPr>
          <p:cNvPr id="20" name="Text 17"/>
          <p:cNvSpPr/>
          <p:nvPr/>
        </p:nvSpPr>
        <p:spPr>
          <a:xfrm>
            <a:off x="9326880" y="5440680"/>
            <a:ext cx="2377440" cy="640080"/>
          </a:xfrm>
          <a:prstGeom prst="rect">
            <a:avLst/>
          </a:prstGeom>
          <a:noFill/>
          <a:ln/>
        </p:spPr>
        <p:txBody>
          <a:bodyPr wrap="square" rtlCol="0" anchor="ctr"/>
          <a:lstStyle/>
          <a:p>
            <a:pPr indent="0" marL="0">
              <a:buNone/>
            </a:pPr>
            <a:r>
              <a:rPr lang="en-US" sz="1200" dirty="0">
                <a:solidFill>
                  <a:srgbClr val="0B1437"/>
                </a:solidFill>
                <a:latin typeface="Calibri" pitchFamily="34" charset="0"/>
                <a:ea typeface="Calibri" pitchFamily="34" charset="-122"/>
                <a:cs typeface="Calibri" pitchFamily="34" charset="-120"/>
              </a:rPr>
              <a:t>Recovered annual revenue</a:t>
            </a:r>
            <a:endParaRPr lang="en-US" sz="12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05  •  THE BIGGER PICTURE</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How AI has improved fraud detection</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graphicFrame>
        <p:nvGraphicFramePr>
          <p:cNvPr id="5" name="Chart 0" descr=""/>
          <p:cNvGraphicFramePr/>
          <p:nvPr/>
        </p:nvGraphicFramePr>
        <p:xfrm>
          <a:off x="457200" y="169164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691640"/>
            <a:ext cx="4160520" cy="1051560"/>
          </a:xfrm>
          <a:prstGeom prst="roundRect">
            <a:avLst>
              <a:gd name="adj" fmla="val 6957"/>
            </a:avLst>
          </a:prstGeom>
          <a:solidFill>
            <a:srgbClr val="FFFFFF"/>
          </a:solidFill>
          <a:ln w="12700">
            <a:solidFill>
              <a:srgbClr val="E3E7F1"/>
            </a:solidFill>
            <a:prstDash val="solid"/>
          </a:ln>
        </p:spPr>
      </p:sp>
      <p:sp>
        <p:nvSpPr>
          <p:cNvPr id="7" name="Shape 4"/>
          <p:cNvSpPr/>
          <p:nvPr/>
        </p:nvSpPr>
        <p:spPr>
          <a:xfrm>
            <a:off x="7589520" y="1691640"/>
            <a:ext cx="91440" cy="1051560"/>
          </a:xfrm>
          <a:prstGeom prst="rect">
            <a:avLst/>
          </a:prstGeom>
          <a:solidFill>
            <a:srgbClr val="1A1F71"/>
          </a:solidFill>
          <a:ln w="12700">
            <a:solidFill>
              <a:srgbClr val="1A1F71"/>
            </a:solidFill>
            <a:prstDash val="solid"/>
          </a:ln>
        </p:spPr>
      </p:sp>
      <p:sp>
        <p:nvSpPr>
          <p:cNvPr id="8" name="Text 5"/>
          <p:cNvSpPr/>
          <p:nvPr/>
        </p:nvSpPr>
        <p:spPr>
          <a:xfrm>
            <a:off x="7726680" y="1783080"/>
            <a:ext cx="3931920" cy="502920"/>
          </a:xfrm>
          <a:prstGeom prst="rect">
            <a:avLst/>
          </a:prstGeom>
          <a:noFill/>
          <a:ln/>
        </p:spPr>
        <p:txBody>
          <a:bodyPr wrap="square" rtlCol="0" anchor="ctr"/>
          <a:lstStyle/>
          <a:p>
            <a:pPr indent="0" marL="0">
              <a:buNone/>
            </a:pPr>
            <a:r>
              <a:rPr lang="en-US" sz="2400" b="1" dirty="0">
                <a:solidFill>
                  <a:srgbClr val="1A1F71"/>
                </a:solidFill>
                <a:latin typeface="Calibri" pitchFamily="34" charset="0"/>
                <a:ea typeface="Calibri" pitchFamily="34" charset="-122"/>
                <a:cs typeface="Calibri" pitchFamily="34" charset="-120"/>
              </a:rPr>
              <a:t>$ 40B+</a:t>
            </a:r>
            <a:endParaRPr lang="en-US" sz="2400" dirty="0"/>
          </a:p>
        </p:txBody>
      </p:sp>
      <p:sp>
        <p:nvSpPr>
          <p:cNvPr id="9" name="Text 6"/>
          <p:cNvSpPr/>
          <p:nvPr/>
        </p:nvSpPr>
        <p:spPr>
          <a:xfrm>
            <a:off x="7726680" y="2286000"/>
            <a:ext cx="3931920" cy="41148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Fraud prevented by Visa AI in FY2023 alone</a:t>
            </a:r>
            <a:endParaRPr lang="en-US" sz="1100" dirty="0"/>
          </a:p>
        </p:txBody>
      </p:sp>
      <p:sp>
        <p:nvSpPr>
          <p:cNvPr id="10" name="Shape 7"/>
          <p:cNvSpPr/>
          <p:nvPr/>
        </p:nvSpPr>
        <p:spPr>
          <a:xfrm>
            <a:off x="7589520" y="2834640"/>
            <a:ext cx="4160520" cy="1051560"/>
          </a:xfrm>
          <a:prstGeom prst="roundRect">
            <a:avLst>
              <a:gd name="adj" fmla="val 6957"/>
            </a:avLst>
          </a:prstGeom>
          <a:solidFill>
            <a:srgbClr val="FFFFFF"/>
          </a:solidFill>
          <a:ln w="12700">
            <a:solidFill>
              <a:srgbClr val="E3E7F1"/>
            </a:solidFill>
            <a:prstDash val="solid"/>
          </a:ln>
        </p:spPr>
      </p:sp>
      <p:sp>
        <p:nvSpPr>
          <p:cNvPr id="11" name="Shape 8"/>
          <p:cNvSpPr/>
          <p:nvPr/>
        </p:nvSpPr>
        <p:spPr>
          <a:xfrm>
            <a:off x="7589520" y="2834640"/>
            <a:ext cx="91440" cy="1051560"/>
          </a:xfrm>
          <a:prstGeom prst="rect">
            <a:avLst/>
          </a:prstGeom>
          <a:solidFill>
            <a:srgbClr val="F7B600"/>
          </a:solidFill>
          <a:ln w="12700">
            <a:solidFill>
              <a:srgbClr val="F7B600"/>
            </a:solidFill>
            <a:prstDash val="solid"/>
          </a:ln>
        </p:spPr>
      </p:sp>
      <p:sp>
        <p:nvSpPr>
          <p:cNvPr id="12" name="Text 9"/>
          <p:cNvSpPr/>
          <p:nvPr/>
        </p:nvSpPr>
        <p:spPr>
          <a:xfrm>
            <a:off x="7726680" y="2926080"/>
            <a:ext cx="3931920" cy="502920"/>
          </a:xfrm>
          <a:prstGeom prst="rect">
            <a:avLst/>
          </a:prstGeom>
          <a:noFill/>
          <a:ln/>
        </p:spPr>
        <p:txBody>
          <a:bodyPr wrap="square" rtlCol="0" anchor="ctr"/>
          <a:lstStyle/>
          <a:p>
            <a:pPr indent="0" marL="0">
              <a:buNone/>
            </a:pPr>
            <a:r>
              <a:rPr lang="en-US" sz="2400" b="1" dirty="0">
                <a:solidFill>
                  <a:srgbClr val="F7B600"/>
                </a:solidFill>
                <a:latin typeface="Calibri" pitchFamily="34" charset="0"/>
                <a:ea typeface="Calibri" pitchFamily="34" charset="-122"/>
                <a:cs typeface="Calibri" pitchFamily="34" charset="-120"/>
              </a:rPr>
              <a:t>500 ms</a:t>
            </a:r>
            <a:endParaRPr lang="en-US" sz="2400" dirty="0"/>
          </a:p>
        </p:txBody>
      </p:sp>
      <p:sp>
        <p:nvSpPr>
          <p:cNvPr id="13" name="Text 10"/>
          <p:cNvSpPr/>
          <p:nvPr/>
        </p:nvSpPr>
        <p:spPr>
          <a:xfrm>
            <a:off x="7726680" y="3429000"/>
            <a:ext cx="3931920" cy="41148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Average decisioning latency per transaction</a:t>
            </a:r>
            <a:endParaRPr lang="en-US" sz="1100" dirty="0"/>
          </a:p>
        </p:txBody>
      </p:sp>
      <p:sp>
        <p:nvSpPr>
          <p:cNvPr id="14" name="Shape 11"/>
          <p:cNvSpPr/>
          <p:nvPr/>
        </p:nvSpPr>
        <p:spPr>
          <a:xfrm>
            <a:off x="7589520" y="3977640"/>
            <a:ext cx="4160520" cy="1051560"/>
          </a:xfrm>
          <a:prstGeom prst="roundRect">
            <a:avLst>
              <a:gd name="adj" fmla="val 6957"/>
            </a:avLst>
          </a:prstGeom>
          <a:solidFill>
            <a:srgbClr val="FFFFFF"/>
          </a:solidFill>
          <a:ln w="12700">
            <a:solidFill>
              <a:srgbClr val="E3E7F1"/>
            </a:solidFill>
            <a:prstDash val="solid"/>
          </a:ln>
        </p:spPr>
      </p:sp>
      <p:sp>
        <p:nvSpPr>
          <p:cNvPr id="15" name="Shape 12"/>
          <p:cNvSpPr/>
          <p:nvPr/>
        </p:nvSpPr>
        <p:spPr>
          <a:xfrm>
            <a:off x="7589520" y="3977640"/>
            <a:ext cx="91440" cy="1051560"/>
          </a:xfrm>
          <a:prstGeom prst="rect">
            <a:avLst/>
          </a:prstGeom>
          <a:solidFill>
            <a:srgbClr val="1A1F71"/>
          </a:solidFill>
          <a:ln w="12700">
            <a:solidFill>
              <a:srgbClr val="1A1F71"/>
            </a:solidFill>
            <a:prstDash val="solid"/>
          </a:ln>
        </p:spPr>
      </p:sp>
      <p:sp>
        <p:nvSpPr>
          <p:cNvPr id="16" name="Text 13"/>
          <p:cNvSpPr/>
          <p:nvPr/>
        </p:nvSpPr>
        <p:spPr>
          <a:xfrm>
            <a:off x="7726680" y="4069080"/>
            <a:ext cx="3931920" cy="502920"/>
          </a:xfrm>
          <a:prstGeom prst="rect">
            <a:avLst/>
          </a:prstGeom>
          <a:noFill/>
          <a:ln/>
        </p:spPr>
        <p:txBody>
          <a:bodyPr wrap="square" rtlCol="0" anchor="ctr"/>
          <a:lstStyle/>
          <a:p>
            <a:pPr indent="0" marL="0">
              <a:buNone/>
            </a:pPr>
            <a:r>
              <a:rPr lang="en-US" sz="2400" b="1" dirty="0">
                <a:solidFill>
                  <a:srgbClr val="1A1F71"/>
                </a:solidFill>
                <a:latin typeface="Calibri" pitchFamily="34" charset="0"/>
                <a:ea typeface="Calibri" pitchFamily="34" charset="-122"/>
                <a:cs typeface="Calibri" pitchFamily="34" charset="-120"/>
              </a:rPr>
              <a:t>99.999%</a:t>
            </a:r>
            <a:endParaRPr lang="en-US" sz="2400" dirty="0"/>
          </a:p>
        </p:txBody>
      </p:sp>
      <p:sp>
        <p:nvSpPr>
          <p:cNvPr id="17" name="Text 14"/>
          <p:cNvSpPr/>
          <p:nvPr/>
        </p:nvSpPr>
        <p:spPr>
          <a:xfrm>
            <a:off x="7726680" y="4572000"/>
            <a:ext cx="3931920" cy="41148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Visa network uptime for risk scoring</a:t>
            </a:r>
            <a:endParaRPr lang="en-US" sz="1100" dirty="0"/>
          </a:p>
        </p:txBody>
      </p:sp>
      <p:sp>
        <p:nvSpPr>
          <p:cNvPr id="18" name="Shape 15"/>
          <p:cNvSpPr/>
          <p:nvPr/>
        </p:nvSpPr>
        <p:spPr>
          <a:xfrm>
            <a:off x="7589520" y="5120640"/>
            <a:ext cx="4160520" cy="1051560"/>
          </a:xfrm>
          <a:prstGeom prst="roundRect">
            <a:avLst>
              <a:gd name="adj" fmla="val 6957"/>
            </a:avLst>
          </a:prstGeom>
          <a:solidFill>
            <a:srgbClr val="FFFFFF"/>
          </a:solidFill>
          <a:ln w="12700">
            <a:solidFill>
              <a:srgbClr val="E3E7F1"/>
            </a:solidFill>
            <a:prstDash val="solid"/>
          </a:ln>
        </p:spPr>
      </p:sp>
      <p:sp>
        <p:nvSpPr>
          <p:cNvPr id="19" name="Shape 16"/>
          <p:cNvSpPr/>
          <p:nvPr/>
        </p:nvSpPr>
        <p:spPr>
          <a:xfrm>
            <a:off x="7589520" y="5120640"/>
            <a:ext cx="91440" cy="1051560"/>
          </a:xfrm>
          <a:prstGeom prst="rect">
            <a:avLst/>
          </a:prstGeom>
          <a:solidFill>
            <a:srgbClr val="F7B600"/>
          </a:solidFill>
          <a:ln w="12700">
            <a:solidFill>
              <a:srgbClr val="F7B600"/>
            </a:solidFill>
            <a:prstDash val="solid"/>
          </a:ln>
        </p:spPr>
      </p:sp>
      <p:sp>
        <p:nvSpPr>
          <p:cNvPr id="20" name="Text 17"/>
          <p:cNvSpPr/>
          <p:nvPr/>
        </p:nvSpPr>
        <p:spPr>
          <a:xfrm>
            <a:off x="7726680" y="5212080"/>
            <a:ext cx="3931920" cy="502920"/>
          </a:xfrm>
          <a:prstGeom prst="rect">
            <a:avLst/>
          </a:prstGeom>
          <a:noFill/>
          <a:ln/>
        </p:spPr>
        <p:txBody>
          <a:bodyPr wrap="square" rtlCol="0" anchor="ctr"/>
          <a:lstStyle/>
          <a:p>
            <a:pPr indent="0" marL="0">
              <a:buNone/>
            </a:pPr>
            <a:r>
              <a:rPr lang="en-US" sz="2400" b="1" dirty="0">
                <a:solidFill>
                  <a:srgbClr val="F7B600"/>
                </a:solidFill>
                <a:latin typeface="Calibri" pitchFamily="34" charset="0"/>
                <a:ea typeface="Calibri" pitchFamily="34" charset="-122"/>
                <a:cs typeface="Calibri" pitchFamily="34" charset="-120"/>
              </a:rPr>
              <a:t>6×</a:t>
            </a:r>
            <a:endParaRPr lang="en-US" sz="2400" dirty="0"/>
          </a:p>
        </p:txBody>
      </p:sp>
      <p:sp>
        <p:nvSpPr>
          <p:cNvPr id="21" name="Text 18"/>
          <p:cNvSpPr/>
          <p:nvPr/>
        </p:nvSpPr>
        <p:spPr>
          <a:xfrm>
            <a:off x="7726680" y="5715000"/>
            <a:ext cx="3931920" cy="41148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Reduction in fraud loss rate for AI-protected merchants since 2018</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05  •  WHY AI WINS</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Legacy rules vs. AI-powered decisioning</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691640"/>
            <a:ext cx="5486400" cy="4663440"/>
          </a:xfrm>
          <a:prstGeom prst="roundRect">
            <a:avLst>
              <a:gd name="adj" fmla="val 2353"/>
            </a:avLst>
          </a:prstGeom>
          <a:solidFill>
            <a:srgbClr val="FFFFFF"/>
          </a:solidFill>
          <a:ln w="12700">
            <a:solidFill>
              <a:srgbClr val="E3E7F1"/>
            </a:solidFill>
            <a:prstDash val="solid"/>
          </a:ln>
        </p:spPr>
      </p:sp>
      <p:sp>
        <p:nvSpPr>
          <p:cNvPr id="6" name="Shape 4"/>
          <p:cNvSpPr/>
          <p:nvPr/>
        </p:nvSpPr>
        <p:spPr>
          <a:xfrm>
            <a:off x="457200" y="1691640"/>
            <a:ext cx="5486400" cy="502920"/>
          </a:xfrm>
          <a:prstGeom prst="rect">
            <a:avLst/>
          </a:prstGeom>
          <a:solidFill>
            <a:srgbClr val="5A6385"/>
          </a:solidFill>
          <a:ln w="12700">
            <a:solidFill>
              <a:srgbClr val="5A6385"/>
            </a:solidFill>
            <a:prstDash val="solid"/>
          </a:ln>
        </p:spPr>
      </p:sp>
      <p:sp>
        <p:nvSpPr>
          <p:cNvPr id="7" name="Text 5"/>
          <p:cNvSpPr/>
          <p:nvPr/>
        </p:nvSpPr>
        <p:spPr>
          <a:xfrm>
            <a:off x="457200" y="1737360"/>
            <a:ext cx="5486400" cy="411480"/>
          </a:xfrm>
          <a:prstGeom prst="rect">
            <a:avLst/>
          </a:prstGeom>
          <a:noFill/>
          <a:ln/>
        </p:spPr>
        <p:txBody>
          <a:bodyPr wrap="square"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LEGACY RULES ENGINE</a:t>
            </a:r>
            <a:endParaRPr lang="en-US" sz="1400" dirty="0"/>
          </a:p>
        </p:txBody>
      </p:sp>
      <p:sp>
        <p:nvSpPr>
          <p:cNvPr id="8" name="Shape 6"/>
          <p:cNvSpPr/>
          <p:nvPr/>
        </p:nvSpPr>
        <p:spPr>
          <a:xfrm>
            <a:off x="685800" y="2450592"/>
            <a:ext cx="228600" cy="228600"/>
          </a:xfrm>
          <a:prstGeom prst="ellipse">
            <a:avLst/>
          </a:prstGeom>
          <a:solidFill>
            <a:srgbClr val="5A6385"/>
          </a:solidFill>
          <a:ln w="12700">
            <a:solidFill>
              <a:srgbClr val="5A6385"/>
            </a:solidFill>
            <a:prstDash val="solid"/>
          </a:ln>
        </p:spPr>
      </p:sp>
      <p:sp>
        <p:nvSpPr>
          <p:cNvPr id="9" name="Text 7"/>
          <p:cNvSpPr/>
          <p:nvPr/>
        </p:nvSpPr>
        <p:spPr>
          <a:xfrm>
            <a:off x="1005840" y="2377440"/>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Static thresholds</a:t>
            </a:r>
            <a:endParaRPr lang="en-US" sz="1300" dirty="0"/>
          </a:p>
        </p:txBody>
      </p:sp>
      <p:sp>
        <p:nvSpPr>
          <p:cNvPr id="10" name="Text 8"/>
          <p:cNvSpPr/>
          <p:nvPr/>
        </p:nvSpPr>
        <p:spPr>
          <a:xfrm>
            <a:off x="1005840" y="2697480"/>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Manually written by analysts — slow to adapt.</a:t>
            </a:r>
            <a:endParaRPr lang="en-US" sz="1050" dirty="0"/>
          </a:p>
        </p:txBody>
      </p:sp>
      <p:sp>
        <p:nvSpPr>
          <p:cNvPr id="11" name="Shape 9"/>
          <p:cNvSpPr/>
          <p:nvPr/>
        </p:nvSpPr>
        <p:spPr>
          <a:xfrm>
            <a:off x="685800" y="3200400"/>
            <a:ext cx="228600" cy="228600"/>
          </a:xfrm>
          <a:prstGeom prst="ellipse">
            <a:avLst/>
          </a:prstGeom>
          <a:solidFill>
            <a:srgbClr val="5A6385"/>
          </a:solidFill>
          <a:ln w="12700">
            <a:solidFill>
              <a:srgbClr val="5A6385"/>
            </a:solidFill>
            <a:prstDash val="solid"/>
          </a:ln>
        </p:spPr>
      </p:sp>
      <p:sp>
        <p:nvSpPr>
          <p:cNvPr id="12" name="Text 10"/>
          <p:cNvSpPr/>
          <p:nvPr/>
        </p:nvSpPr>
        <p:spPr>
          <a:xfrm>
            <a:off x="1005840" y="3127248"/>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High false positives</a:t>
            </a:r>
            <a:endParaRPr lang="en-US" sz="1300" dirty="0"/>
          </a:p>
        </p:txBody>
      </p:sp>
      <p:sp>
        <p:nvSpPr>
          <p:cNvPr id="13" name="Text 11"/>
          <p:cNvSpPr/>
          <p:nvPr/>
        </p:nvSpPr>
        <p:spPr>
          <a:xfrm>
            <a:off x="1005840" y="3447288"/>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8–10% of good orders blocked, hurting revenue.</a:t>
            </a:r>
            <a:endParaRPr lang="en-US" sz="1050" dirty="0"/>
          </a:p>
        </p:txBody>
      </p:sp>
      <p:sp>
        <p:nvSpPr>
          <p:cNvPr id="14" name="Shape 12"/>
          <p:cNvSpPr/>
          <p:nvPr/>
        </p:nvSpPr>
        <p:spPr>
          <a:xfrm>
            <a:off x="685800" y="3950208"/>
            <a:ext cx="228600" cy="228600"/>
          </a:xfrm>
          <a:prstGeom prst="ellipse">
            <a:avLst/>
          </a:prstGeom>
          <a:solidFill>
            <a:srgbClr val="5A6385"/>
          </a:solidFill>
          <a:ln w="12700">
            <a:solidFill>
              <a:srgbClr val="5A6385"/>
            </a:solidFill>
            <a:prstDash val="solid"/>
          </a:ln>
        </p:spPr>
      </p:sp>
      <p:sp>
        <p:nvSpPr>
          <p:cNvPr id="15" name="Text 13"/>
          <p:cNvSpPr/>
          <p:nvPr/>
        </p:nvSpPr>
        <p:spPr>
          <a:xfrm>
            <a:off x="1005840" y="3877056"/>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No pattern discovery</a:t>
            </a:r>
            <a:endParaRPr lang="en-US" sz="1300" dirty="0"/>
          </a:p>
        </p:txBody>
      </p:sp>
      <p:sp>
        <p:nvSpPr>
          <p:cNvPr id="16" name="Text 14"/>
          <p:cNvSpPr/>
          <p:nvPr/>
        </p:nvSpPr>
        <p:spPr>
          <a:xfrm>
            <a:off x="1005840" y="4197096"/>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Misses novel fraud rings until losses accumulate.</a:t>
            </a:r>
            <a:endParaRPr lang="en-US" sz="1050" dirty="0"/>
          </a:p>
        </p:txBody>
      </p:sp>
      <p:sp>
        <p:nvSpPr>
          <p:cNvPr id="17" name="Shape 15"/>
          <p:cNvSpPr/>
          <p:nvPr/>
        </p:nvSpPr>
        <p:spPr>
          <a:xfrm>
            <a:off x="685800" y="4700016"/>
            <a:ext cx="228600" cy="228600"/>
          </a:xfrm>
          <a:prstGeom prst="ellipse">
            <a:avLst/>
          </a:prstGeom>
          <a:solidFill>
            <a:srgbClr val="5A6385"/>
          </a:solidFill>
          <a:ln w="12700">
            <a:solidFill>
              <a:srgbClr val="5A6385"/>
            </a:solidFill>
            <a:prstDash val="solid"/>
          </a:ln>
        </p:spPr>
      </p:sp>
      <p:sp>
        <p:nvSpPr>
          <p:cNvPr id="18" name="Text 16"/>
          <p:cNvSpPr/>
          <p:nvPr/>
        </p:nvSpPr>
        <p:spPr>
          <a:xfrm>
            <a:off x="1005840" y="4626864"/>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Heavy manual review</a:t>
            </a:r>
            <a:endParaRPr lang="en-US" sz="1300" dirty="0"/>
          </a:p>
        </p:txBody>
      </p:sp>
      <p:sp>
        <p:nvSpPr>
          <p:cNvPr id="19" name="Text 17"/>
          <p:cNvSpPr/>
          <p:nvPr/>
        </p:nvSpPr>
        <p:spPr>
          <a:xfrm>
            <a:off x="1005840" y="4946904"/>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10–15% of orders queued for human inspection.</a:t>
            </a:r>
            <a:endParaRPr lang="en-US" sz="1050" dirty="0"/>
          </a:p>
        </p:txBody>
      </p:sp>
      <p:sp>
        <p:nvSpPr>
          <p:cNvPr id="20" name="Shape 18"/>
          <p:cNvSpPr/>
          <p:nvPr/>
        </p:nvSpPr>
        <p:spPr>
          <a:xfrm>
            <a:off x="685800" y="5449824"/>
            <a:ext cx="228600" cy="228600"/>
          </a:xfrm>
          <a:prstGeom prst="ellipse">
            <a:avLst/>
          </a:prstGeom>
          <a:solidFill>
            <a:srgbClr val="5A6385"/>
          </a:solidFill>
          <a:ln w="12700">
            <a:solidFill>
              <a:srgbClr val="5A6385"/>
            </a:solidFill>
            <a:prstDash val="solid"/>
          </a:ln>
        </p:spPr>
      </p:sp>
      <p:sp>
        <p:nvSpPr>
          <p:cNvPr id="21" name="Text 19"/>
          <p:cNvSpPr/>
          <p:nvPr/>
        </p:nvSpPr>
        <p:spPr>
          <a:xfrm>
            <a:off x="1005840" y="5376672"/>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Reactive</a:t>
            </a:r>
            <a:endParaRPr lang="en-US" sz="1300" dirty="0"/>
          </a:p>
        </p:txBody>
      </p:sp>
      <p:sp>
        <p:nvSpPr>
          <p:cNvPr id="22" name="Text 20"/>
          <p:cNvSpPr/>
          <p:nvPr/>
        </p:nvSpPr>
        <p:spPr>
          <a:xfrm>
            <a:off x="1005840" y="5696712"/>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Updated after fraud spikes are already visible.</a:t>
            </a:r>
            <a:endParaRPr lang="en-US" sz="1050" dirty="0"/>
          </a:p>
        </p:txBody>
      </p:sp>
      <p:sp>
        <p:nvSpPr>
          <p:cNvPr id="23" name="Shape 21"/>
          <p:cNvSpPr/>
          <p:nvPr/>
        </p:nvSpPr>
        <p:spPr>
          <a:xfrm>
            <a:off x="6217920" y="1691640"/>
            <a:ext cx="5486400" cy="4663440"/>
          </a:xfrm>
          <a:prstGeom prst="roundRect">
            <a:avLst>
              <a:gd name="adj" fmla="val 2353"/>
            </a:avLst>
          </a:prstGeom>
          <a:solidFill>
            <a:srgbClr val="FFFFFF"/>
          </a:solidFill>
          <a:ln w="12700">
            <a:solidFill>
              <a:srgbClr val="E3E7F1"/>
            </a:solidFill>
            <a:prstDash val="solid"/>
          </a:ln>
        </p:spPr>
      </p:sp>
      <p:sp>
        <p:nvSpPr>
          <p:cNvPr id="24" name="Shape 22"/>
          <p:cNvSpPr/>
          <p:nvPr/>
        </p:nvSpPr>
        <p:spPr>
          <a:xfrm>
            <a:off x="6217920" y="1691640"/>
            <a:ext cx="5486400" cy="502920"/>
          </a:xfrm>
          <a:prstGeom prst="rect">
            <a:avLst/>
          </a:prstGeom>
          <a:solidFill>
            <a:srgbClr val="1A1F71"/>
          </a:solidFill>
          <a:ln w="12700">
            <a:solidFill>
              <a:srgbClr val="1A1F71"/>
            </a:solidFill>
            <a:prstDash val="solid"/>
          </a:ln>
        </p:spPr>
      </p:sp>
      <p:sp>
        <p:nvSpPr>
          <p:cNvPr id="25" name="Text 23"/>
          <p:cNvSpPr/>
          <p:nvPr/>
        </p:nvSpPr>
        <p:spPr>
          <a:xfrm>
            <a:off x="6217920" y="1737360"/>
            <a:ext cx="5486400" cy="411480"/>
          </a:xfrm>
          <a:prstGeom prst="rect">
            <a:avLst/>
          </a:prstGeom>
          <a:noFill/>
          <a:ln/>
        </p:spPr>
        <p:txBody>
          <a:bodyPr wrap="square"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VISA AI + DECISION MANAGER</a:t>
            </a:r>
            <a:endParaRPr lang="en-US" sz="1400" dirty="0"/>
          </a:p>
        </p:txBody>
      </p:sp>
      <p:sp>
        <p:nvSpPr>
          <p:cNvPr id="26" name="Shape 24"/>
          <p:cNvSpPr/>
          <p:nvPr/>
        </p:nvSpPr>
        <p:spPr>
          <a:xfrm>
            <a:off x="6446520" y="2450592"/>
            <a:ext cx="228600" cy="228600"/>
          </a:xfrm>
          <a:prstGeom prst="ellipse">
            <a:avLst/>
          </a:prstGeom>
          <a:solidFill>
            <a:srgbClr val="1A1F71"/>
          </a:solidFill>
          <a:ln w="12700">
            <a:solidFill>
              <a:srgbClr val="1A1F71"/>
            </a:solidFill>
            <a:prstDash val="solid"/>
          </a:ln>
        </p:spPr>
      </p:sp>
      <p:sp>
        <p:nvSpPr>
          <p:cNvPr id="27" name="Text 25"/>
          <p:cNvSpPr/>
          <p:nvPr/>
        </p:nvSpPr>
        <p:spPr>
          <a:xfrm>
            <a:off x="6766560" y="2377440"/>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Adaptive ML models</a:t>
            </a:r>
            <a:endParaRPr lang="en-US" sz="1300" dirty="0"/>
          </a:p>
        </p:txBody>
      </p:sp>
      <p:sp>
        <p:nvSpPr>
          <p:cNvPr id="28" name="Text 26"/>
          <p:cNvSpPr/>
          <p:nvPr/>
        </p:nvSpPr>
        <p:spPr>
          <a:xfrm>
            <a:off x="6766560" y="2697480"/>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Retrain nightly on global Visa consortium data.</a:t>
            </a:r>
            <a:endParaRPr lang="en-US" sz="1050" dirty="0"/>
          </a:p>
        </p:txBody>
      </p:sp>
      <p:sp>
        <p:nvSpPr>
          <p:cNvPr id="29" name="Shape 27"/>
          <p:cNvSpPr/>
          <p:nvPr/>
        </p:nvSpPr>
        <p:spPr>
          <a:xfrm>
            <a:off x="6446520" y="3200400"/>
            <a:ext cx="228600" cy="228600"/>
          </a:xfrm>
          <a:prstGeom prst="ellipse">
            <a:avLst/>
          </a:prstGeom>
          <a:solidFill>
            <a:srgbClr val="1A1F71"/>
          </a:solidFill>
          <a:ln w="12700">
            <a:solidFill>
              <a:srgbClr val="1A1F71"/>
            </a:solidFill>
            <a:prstDash val="solid"/>
          </a:ln>
        </p:spPr>
      </p:sp>
      <p:sp>
        <p:nvSpPr>
          <p:cNvPr id="30" name="Text 28"/>
          <p:cNvSpPr/>
          <p:nvPr/>
        </p:nvSpPr>
        <p:spPr>
          <a:xfrm>
            <a:off x="6766560" y="3127248"/>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3–5% false positives</a:t>
            </a:r>
            <a:endParaRPr lang="en-US" sz="1300" dirty="0"/>
          </a:p>
        </p:txBody>
      </p:sp>
      <p:sp>
        <p:nvSpPr>
          <p:cNvPr id="31" name="Text 29"/>
          <p:cNvSpPr/>
          <p:nvPr/>
        </p:nvSpPr>
        <p:spPr>
          <a:xfrm>
            <a:off x="6766560" y="3447288"/>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Up to 60% reduction vs. legacy rules.</a:t>
            </a:r>
            <a:endParaRPr lang="en-US" sz="1050" dirty="0"/>
          </a:p>
        </p:txBody>
      </p:sp>
      <p:sp>
        <p:nvSpPr>
          <p:cNvPr id="32" name="Shape 30"/>
          <p:cNvSpPr/>
          <p:nvPr/>
        </p:nvSpPr>
        <p:spPr>
          <a:xfrm>
            <a:off x="6446520" y="3950208"/>
            <a:ext cx="228600" cy="228600"/>
          </a:xfrm>
          <a:prstGeom prst="ellipse">
            <a:avLst/>
          </a:prstGeom>
          <a:solidFill>
            <a:srgbClr val="1A1F71"/>
          </a:solidFill>
          <a:ln w="12700">
            <a:solidFill>
              <a:srgbClr val="1A1F71"/>
            </a:solidFill>
            <a:prstDash val="solid"/>
          </a:ln>
        </p:spPr>
      </p:sp>
      <p:sp>
        <p:nvSpPr>
          <p:cNvPr id="33" name="Text 31"/>
          <p:cNvSpPr/>
          <p:nvPr/>
        </p:nvSpPr>
        <p:spPr>
          <a:xfrm>
            <a:off x="6766560" y="3877056"/>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Detects unseen fraud</a:t>
            </a:r>
            <a:endParaRPr lang="en-US" sz="1300" dirty="0"/>
          </a:p>
        </p:txBody>
      </p:sp>
      <p:sp>
        <p:nvSpPr>
          <p:cNvPr id="34" name="Text 32"/>
          <p:cNvSpPr/>
          <p:nvPr/>
        </p:nvSpPr>
        <p:spPr>
          <a:xfrm>
            <a:off x="6766560" y="4197096"/>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Graph + deep learning surfaces hidden fraud rings.</a:t>
            </a:r>
            <a:endParaRPr lang="en-US" sz="1050" dirty="0"/>
          </a:p>
        </p:txBody>
      </p:sp>
      <p:sp>
        <p:nvSpPr>
          <p:cNvPr id="35" name="Shape 33"/>
          <p:cNvSpPr/>
          <p:nvPr/>
        </p:nvSpPr>
        <p:spPr>
          <a:xfrm>
            <a:off x="6446520" y="4700016"/>
            <a:ext cx="228600" cy="228600"/>
          </a:xfrm>
          <a:prstGeom prst="ellipse">
            <a:avLst/>
          </a:prstGeom>
          <a:solidFill>
            <a:srgbClr val="1A1F71"/>
          </a:solidFill>
          <a:ln w="12700">
            <a:solidFill>
              <a:srgbClr val="1A1F71"/>
            </a:solidFill>
            <a:prstDash val="solid"/>
          </a:ln>
        </p:spPr>
      </p:sp>
      <p:sp>
        <p:nvSpPr>
          <p:cNvPr id="36" name="Text 34"/>
          <p:cNvSpPr/>
          <p:nvPr/>
        </p:nvSpPr>
        <p:spPr>
          <a:xfrm>
            <a:off x="6766560" y="4626864"/>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&lt;5% manual review</a:t>
            </a:r>
            <a:endParaRPr lang="en-US" sz="1300" dirty="0"/>
          </a:p>
        </p:txBody>
      </p:sp>
      <p:sp>
        <p:nvSpPr>
          <p:cNvPr id="37" name="Text 35"/>
          <p:cNvSpPr/>
          <p:nvPr/>
        </p:nvSpPr>
        <p:spPr>
          <a:xfrm>
            <a:off x="6766560" y="4946904"/>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Auto-decisioning handles 95%+ of transactions.</a:t>
            </a:r>
            <a:endParaRPr lang="en-US" sz="1050" dirty="0"/>
          </a:p>
        </p:txBody>
      </p:sp>
      <p:sp>
        <p:nvSpPr>
          <p:cNvPr id="38" name="Shape 36"/>
          <p:cNvSpPr/>
          <p:nvPr/>
        </p:nvSpPr>
        <p:spPr>
          <a:xfrm>
            <a:off x="6446520" y="5449824"/>
            <a:ext cx="228600" cy="228600"/>
          </a:xfrm>
          <a:prstGeom prst="ellipse">
            <a:avLst/>
          </a:prstGeom>
          <a:solidFill>
            <a:srgbClr val="1A1F71"/>
          </a:solidFill>
          <a:ln w="12700">
            <a:solidFill>
              <a:srgbClr val="1A1F71"/>
            </a:solidFill>
            <a:prstDash val="solid"/>
          </a:ln>
        </p:spPr>
      </p:sp>
      <p:sp>
        <p:nvSpPr>
          <p:cNvPr id="39" name="Text 37"/>
          <p:cNvSpPr/>
          <p:nvPr/>
        </p:nvSpPr>
        <p:spPr>
          <a:xfrm>
            <a:off x="6766560" y="5376672"/>
            <a:ext cx="4846320" cy="320040"/>
          </a:xfrm>
          <a:prstGeom prst="rect">
            <a:avLst/>
          </a:prstGeom>
          <a:noFill/>
          <a:ln/>
        </p:spPr>
        <p:txBody>
          <a:bodyPr wrap="square" rtlCol="0" anchor="ctr"/>
          <a:lstStyle/>
          <a:p>
            <a:pPr indent="0" marL="0">
              <a:buNone/>
            </a:pPr>
            <a:r>
              <a:rPr lang="en-US" sz="1300" b="1" dirty="0">
                <a:solidFill>
                  <a:srgbClr val="1A1F71"/>
                </a:solidFill>
                <a:latin typeface="Calibri" pitchFamily="34" charset="0"/>
                <a:ea typeface="Calibri" pitchFamily="34" charset="-122"/>
                <a:cs typeface="Calibri" pitchFamily="34" charset="-120"/>
              </a:rPr>
              <a:t>Proactive</a:t>
            </a:r>
            <a:endParaRPr lang="en-US" sz="1300" dirty="0"/>
          </a:p>
        </p:txBody>
      </p:sp>
      <p:sp>
        <p:nvSpPr>
          <p:cNvPr id="40" name="Text 38"/>
          <p:cNvSpPr/>
          <p:nvPr/>
        </p:nvSpPr>
        <p:spPr>
          <a:xfrm>
            <a:off x="6766560" y="5696712"/>
            <a:ext cx="4846320" cy="411480"/>
          </a:xfrm>
          <a:prstGeom prst="rect">
            <a:avLst/>
          </a:prstGeom>
          <a:noFill/>
          <a:ln/>
        </p:spPr>
        <p:txBody>
          <a:bodyPr wrap="square" rtlCol="0" anchor="ctr"/>
          <a:lstStyle/>
          <a:p>
            <a:pPr indent="0" marL="0">
              <a:buNone/>
            </a:pPr>
            <a:r>
              <a:rPr lang="en-US" sz="1050" dirty="0">
                <a:solidFill>
                  <a:srgbClr val="5A6385"/>
                </a:solidFill>
                <a:latin typeface="Calibri" pitchFamily="34" charset="0"/>
                <a:ea typeface="Calibri" pitchFamily="34" charset="-122"/>
                <a:cs typeface="Calibri" pitchFamily="34" charset="-120"/>
              </a:rPr>
              <a:t>Predicts emerging fraud patterns before they peak.</a:t>
            </a:r>
            <a:endParaRPr lang="en-US" sz="105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502920"/>
            <a:ext cx="10972800" cy="274320"/>
          </a:xfrm>
          <a:prstGeom prst="rect">
            <a:avLst/>
          </a:prstGeom>
          <a:noFill/>
          <a:ln/>
        </p:spPr>
        <p:txBody>
          <a:bodyPr wrap="square" rtlCol="0" anchor="ctr"/>
          <a:lstStyle/>
          <a:p>
            <a:pPr indent="0" marL="0">
              <a:buNone/>
            </a:pPr>
            <a:r>
              <a:rPr lang="en-US" sz="1100" b="1" spc="400" kern="0" dirty="0">
                <a:solidFill>
                  <a:srgbClr val="F7B600"/>
                </a:solidFill>
                <a:latin typeface="Calibri" pitchFamily="34" charset="0"/>
                <a:ea typeface="Calibri" pitchFamily="34" charset="-122"/>
                <a:cs typeface="Calibri" pitchFamily="34" charset="-120"/>
              </a:rPr>
              <a:t>06  •  WHAT'S NEXT</a:t>
            </a:r>
            <a:endParaRPr lang="en-US" sz="1100" dirty="0"/>
          </a:p>
        </p:txBody>
      </p:sp>
      <p:sp>
        <p:nvSpPr>
          <p:cNvPr id="3" name="Text 1"/>
          <p:cNvSpPr/>
          <p:nvPr/>
        </p:nvSpPr>
        <p:spPr>
          <a:xfrm>
            <a:off x="457200" y="777240"/>
            <a:ext cx="11247120" cy="640080"/>
          </a:xfrm>
          <a:prstGeom prst="rect">
            <a:avLst/>
          </a:prstGeom>
          <a:noFill/>
          <a:ln/>
        </p:spPr>
        <p:txBody>
          <a:bodyPr wrap="square" rtlCol="0" anchor="ctr"/>
          <a:lstStyle/>
          <a:p>
            <a:pPr indent="0" marL="0">
              <a:buNone/>
            </a:pPr>
            <a:r>
              <a:rPr lang="en-US" sz="2800" b="1" dirty="0">
                <a:solidFill>
                  <a:srgbClr val="1A1F71"/>
                </a:solidFill>
                <a:latin typeface="Calibri" pitchFamily="34" charset="0"/>
                <a:ea typeface="Calibri" pitchFamily="34" charset="-122"/>
                <a:cs typeface="Calibri" pitchFamily="34" charset="-120"/>
              </a:rPr>
              <a:t>The roadmap for AI-powered fraud prevention</a:t>
            </a:r>
            <a:endParaRPr lang="en-US" sz="2800" dirty="0"/>
          </a:p>
        </p:txBody>
      </p:sp>
      <p:sp>
        <p:nvSpPr>
          <p:cNvPr id="4" name="Shape 2"/>
          <p:cNvSpPr/>
          <p:nvPr/>
        </p:nvSpPr>
        <p:spPr>
          <a:xfrm>
            <a:off x="457200" y="1417320"/>
            <a:ext cx="1097280" cy="0"/>
          </a:xfrm>
          <a:prstGeom prst="line">
            <a:avLst/>
          </a:prstGeom>
          <a:noFill/>
          <a:ln w="38100">
            <a:solidFill>
              <a:srgbClr val="F7B600"/>
            </a:solidFill>
            <a:prstDash val="solid"/>
          </a:ln>
        </p:spPr>
      </p:sp>
      <p:sp>
        <p:nvSpPr>
          <p:cNvPr id="5" name="Shape 3"/>
          <p:cNvSpPr/>
          <p:nvPr/>
        </p:nvSpPr>
        <p:spPr>
          <a:xfrm>
            <a:off x="457200" y="1783080"/>
            <a:ext cx="11247120" cy="960120"/>
          </a:xfrm>
          <a:prstGeom prst="roundRect">
            <a:avLst>
              <a:gd name="adj" fmla="val 7619"/>
            </a:avLst>
          </a:prstGeom>
          <a:solidFill>
            <a:srgbClr val="FFFFFF"/>
          </a:solidFill>
          <a:ln w="12700">
            <a:solidFill>
              <a:srgbClr val="E3E7F1"/>
            </a:solidFill>
            <a:prstDash val="solid"/>
          </a:ln>
        </p:spPr>
      </p:sp>
      <p:sp>
        <p:nvSpPr>
          <p:cNvPr id="6" name="Shape 4"/>
          <p:cNvSpPr/>
          <p:nvPr/>
        </p:nvSpPr>
        <p:spPr>
          <a:xfrm>
            <a:off x="594360" y="1947672"/>
            <a:ext cx="1371600" cy="640080"/>
          </a:xfrm>
          <a:prstGeom prst="roundRect">
            <a:avLst>
              <a:gd name="adj" fmla="val 50000"/>
            </a:avLst>
          </a:prstGeom>
          <a:solidFill>
            <a:srgbClr val="1A1F71"/>
          </a:solidFill>
          <a:ln w="12700">
            <a:solidFill>
              <a:srgbClr val="1A1F71"/>
            </a:solidFill>
            <a:prstDash val="solid"/>
          </a:ln>
        </p:spPr>
      </p:sp>
      <p:sp>
        <p:nvSpPr>
          <p:cNvPr id="7" name="Text 5"/>
          <p:cNvSpPr/>
          <p:nvPr/>
        </p:nvSpPr>
        <p:spPr>
          <a:xfrm>
            <a:off x="594360" y="1947672"/>
            <a:ext cx="1371600" cy="640080"/>
          </a:xfrm>
          <a:prstGeom prst="rect">
            <a:avLst/>
          </a:prstGeom>
          <a:noFill/>
          <a:ln/>
        </p:spPr>
        <p:txBody>
          <a:bodyPr wrap="square" rtlCol="0" anchor="ctr"/>
          <a:lstStyle/>
          <a:p>
            <a:pPr algn="ctr" indent="0" marL="0">
              <a:buNone/>
            </a:pPr>
            <a:r>
              <a:rPr lang="en-US" sz="1300" b="1" spc="200" kern="0" dirty="0">
                <a:solidFill>
                  <a:srgbClr val="F7B600"/>
                </a:solidFill>
                <a:latin typeface="Calibri" pitchFamily="34" charset="0"/>
                <a:ea typeface="Calibri" pitchFamily="34" charset="-122"/>
                <a:cs typeface="Calibri" pitchFamily="34" charset="-120"/>
              </a:rPr>
              <a:t>NOW</a:t>
            </a:r>
            <a:endParaRPr lang="en-US" sz="1300" dirty="0"/>
          </a:p>
        </p:txBody>
      </p:sp>
      <p:sp>
        <p:nvSpPr>
          <p:cNvPr id="8" name="Text 6"/>
          <p:cNvSpPr/>
          <p:nvPr/>
        </p:nvSpPr>
        <p:spPr>
          <a:xfrm>
            <a:off x="2194560" y="1901952"/>
            <a:ext cx="9326880" cy="365760"/>
          </a:xfrm>
          <a:prstGeom prst="rect">
            <a:avLst/>
          </a:prstGeom>
          <a:noFill/>
          <a:ln/>
        </p:spPr>
        <p:txBody>
          <a:bodyPr wrap="square" rtlCol="0" anchor="ctr"/>
          <a:lstStyle/>
          <a:p>
            <a:pPr indent="0" marL="0">
              <a:buNone/>
            </a:pPr>
            <a:r>
              <a:rPr lang="en-US" sz="1500" b="1" dirty="0">
                <a:solidFill>
                  <a:srgbClr val="1A1F71"/>
                </a:solidFill>
                <a:latin typeface="Calibri" pitchFamily="34" charset="0"/>
                <a:ea typeface="Calibri" pitchFamily="34" charset="-122"/>
                <a:cs typeface="Calibri" pitchFamily="34" charset="-120"/>
              </a:rPr>
              <a:t>Generative AI investigators</a:t>
            </a:r>
            <a:endParaRPr lang="en-US" sz="1500" dirty="0"/>
          </a:p>
        </p:txBody>
      </p:sp>
      <p:sp>
        <p:nvSpPr>
          <p:cNvPr id="9" name="Text 7"/>
          <p:cNvSpPr/>
          <p:nvPr/>
        </p:nvSpPr>
        <p:spPr>
          <a:xfrm>
            <a:off x="2194560" y="2258568"/>
            <a:ext cx="932688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LLM-based copilots draft case notes, summarize chargebacks, and recommend rule changes.</a:t>
            </a:r>
            <a:endParaRPr lang="en-US" sz="1100" dirty="0"/>
          </a:p>
        </p:txBody>
      </p:sp>
      <p:sp>
        <p:nvSpPr>
          <p:cNvPr id="10" name="Shape 8"/>
          <p:cNvSpPr/>
          <p:nvPr/>
        </p:nvSpPr>
        <p:spPr>
          <a:xfrm>
            <a:off x="457200" y="2880360"/>
            <a:ext cx="11247120" cy="960120"/>
          </a:xfrm>
          <a:prstGeom prst="roundRect">
            <a:avLst>
              <a:gd name="adj" fmla="val 7619"/>
            </a:avLst>
          </a:prstGeom>
          <a:solidFill>
            <a:srgbClr val="FFFFFF"/>
          </a:solidFill>
          <a:ln w="12700">
            <a:solidFill>
              <a:srgbClr val="E3E7F1"/>
            </a:solidFill>
            <a:prstDash val="solid"/>
          </a:ln>
        </p:spPr>
      </p:sp>
      <p:sp>
        <p:nvSpPr>
          <p:cNvPr id="11" name="Shape 9"/>
          <p:cNvSpPr/>
          <p:nvPr/>
        </p:nvSpPr>
        <p:spPr>
          <a:xfrm>
            <a:off x="594360" y="3044952"/>
            <a:ext cx="1371600" cy="640080"/>
          </a:xfrm>
          <a:prstGeom prst="roundRect">
            <a:avLst>
              <a:gd name="adj" fmla="val 50000"/>
            </a:avLst>
          </a:prstGeom>
          <a:solidFill>
            <a:srgbClr val="1A1F71"/>
          </a:solidFill>
          <a:ln w="12700">
            <a:solidFill>
              <a:srgbClr val="1A1F71"/>
            </a:solidFill>
            <a:prstDash val="solid"/>
          </a:ln>
        </p:spPr>
      </p:sp>
      <p:sp>
        <p:nvSpPr>
          <p:cNvPr id="12" name="Text 10"/>
          <p:cNvSpPr/>
          <p:nvPr/>
        </p:nvSpPr>
        <p:spPr>
          <a:xfrm>
            <a:off x="594360" y="3044952"/>
            <a:ext cx="1371600" cy="640080"/>
          </a:xfrm>
          <a:prstGeom prst="rect">
            <a:avLst/>
          </a:prstGeom>
          <a:noFill/>
          <a:ln/>
        </p:spPr>
        <p:txBody>
          <a:bodyPr wrap="square" rtlCol="0" anchor="ctr"/>
          <a:lstStyle/>
          <a:p>
            <a:pPr algn="ctr" indent="0" marL="0">
              <a:buNone/>
            </a:pPr>
            <a:r>
              <a:rPr lang="en-US" sz="1300" b="1" spc="200" kern="0" dirty="0">
                <a:solidFill>
                  <a:srgbClr val="F7B600"/>
                </a:solidFill>
                <a:latin typeface="Calibri" pitchFamily="34" charset="0"/>
                <a:ea typeface="Calibri" pitchFamily="34" charset="-122"/>
                <a:cs typeface="Calibri" pitchFamily="34" charset="-120"/>
              </a:rPr>
              <a:t>2025</a:t>
            </a:r>
            <a:endParaRPr lang="en-US" sz="1300" dirty="0"/>
          </a:p>
        </p:txBody>
      </p:sp>
      <p:sp>
        <p:nvSpPr>
          <p:cNvPr id="13" name="Text 11"/>
          <p:cNvSpPr/>
          <p:nvPr/>
        </p:nvSpPr>
        <p:spPr>
          <a:xfrm>
            <a:off x="2194560" y="2999232"/>
            <a:ext cx="9326880" cy="365760"/>
          </a:xfrm>
          <a:prstGeom prst="rect">
            <a:avLst/>
          </a:prstGeom>
          <a:noFill/>
          <a:ln/>
        </p:spPr>
        <p:txBody>
          <a:bodyPr wrap="square" rtlCol="0" anchor="ctr"/>
          <a:lstStyle/>
          <a:p>
            <a:pPr indent="0" marL="0">
              <a:buNone/>
            </a:pPr>
            <a:r>
              <a:rPr lang="en-US" sz="1500" b="1" dirty="0">
                <a:solidFill>
                  <a:srgbClr val="1A1F71"/>
                </a:solidFill>
                <a:latin typeface="Calibri" pitchFamily="34" charset="0"/>
                <a:ea typeface="Calibri" pitchFamily="34" charset="-122"/>
                <a:cs typeface="Calibri" pitchFamily="34" charset="-120"/>
              </a:rPr>
              <a:t>Graph-native fraud detection</a:t>
            </a:r>
            <a:endParaRPr lang="en-US" sz="1500" dirty="0"/>
          </a:p>
        </p:txBody>
      </p:sp>
      <p:sp>
        <p:nvSpPr>
          <p:cNvPr id="14" name="Text 12"/>
          <p:cNvSpPr/>
          <p:nvPr/>
        </p:nvSpPr>
        <p:spPr>
          <a:xfrm>
            <a:off x="2194560" y="3355848"/>
            <a:ext cx="932688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Real-time graph models map fraud rings across millions of entities per second.</a:t>
            </a:r>
            <a:endParaRPr lang="en-US" sz="1100" dirty="0"/>
          </a:p>
        </p:txBody>
      </p:sp>
      <p:sp>
        <p:nvSpPr>
          <p:cNvPr id="15" name="Shape 13"/>
          <p:cNvSpPr/>
          <p:nvPr/>
        </p:nvSpPr>
        <p:spPr>
          <a:xfrm>
            <a:off x="457200" y="3977640"/>
            <a:ext cx="11247120" cy="960120"/>
          </a:xfrm>
          <a:prstGeom prst="roundRect">
            <a:avLst>
              <a:gd name="adj" fmla="val 7619"/>
            </a:avLst>
          </a:prstGeom>
          <a:solidFill>
            <a:srgbClr val="FFFFFF"/>
          </a:solidFill>
          <a:ln w="12700">
            <a:solidFill>
              <a:srgbClr val="E3E7F1"/>
            </a:solidFill>
            <a:prstDash val="solid"/>
          </a:ln>
        </p:spPr>
      </p:sp>
      <p:sp>
        <p:nvSpPr>
          <p:cNvPr id="16" name="Shape 14"/>
          <p:cNvSpPr/>
          <p:nvPr/>
        </p:nvSpPr>
        <p:spPr>
          <a:xfrm>
            <a:off x="594360" y="4142232"/>
            <a:ext cx="1371600" cy="640080"/>
          </a:xfrm>
          <a:prstGeom prst="roundRect">
            <a:avLst>
              <a:gd name="adj" fmla="val 50000"/>
            </a:avLst>
          </a:prstGeom>
          <a:solidFill>
            <a:srgbClr val="1A1F71"/>
          </a:solidFill>
          <a:ln w="12700">
            <a:solidFill>
              <a:srgbClr val="1A1F71"/>
            </a:solidFill>
            <a:prstDash val="solid"/>
          </a:ln>
        </p:spPr>
      </p:sp>
      <p:sp>
        <p:nvSpPr>
          <p:cNvPr id="17" name="Text 15"/>
          <p:cNvSpPr/>
          <p:nvPr/>
        </p:nvSpPr>
        <p:spPr>
          <a:xfrm>
            <a:off x="594360" y="4142232"/>
            <a:ext cx="1371600" cy="640080"/>
          </a:xfrm>
          <a:prstGeom prst="rect">
            <a:avLst/>
          </a:prstGeom>
          <a:noFill/>
          <a:ln/>
        </p:spPr>
        <p:txBody>
          <a:bodyPr wrap="square" rtlCol="0" anchor="ctr"/>
          <a:lstStyle/>
          <a:p>
            <a:pPr algn="ctr" indent="0" marL="0">
              <a:buNone/>
            </a:pPr>
            <a:r>
              <a:rPr lang="en-US" sz="1300" b="1" spc="200" kern="0" dirty="0">
                <a:solidFill>
                  <a:srgbClr val="F7B600"/>
                </a:solidFill>
                <a:latin typeface="Calibri" pitchFamily="34" charset="0"/>
                <a:ea typeface="Calibri" pitchFamily="34" charset="-122"/>
                <a:cs typeface="Calibri" pitchFamily="34" charset="-120"/>
              </a:rPr>
              <a:t>2026</a:t>
            </a:r>
            <a:endParaRPr lang="en-US" sz="1300" dirty="0"/>
          </a:p>
        </p:txBody>
      </p:sp>
      <p:sp>
        <p:nvSpPr>
          <p:cNvPr id="18" name="Text 16"/>
          <p:cNvSpPr/>
          <p:nvPr/>
        </p:nvSpPr>
        <p:spPr>
          <a:xfrm>
            <a:off x="2194560" y="4096512"/>
            <a:ext cx="9326880" cy="365760"/>
          </a:xfrm>
          <a:prstGeom prst="rect">
            <a:avLst/>
          </a:prstGeom>
          <a:noFill/>
          <a:ln/>
        </p:spPr>
        <p:txBody>
          <a:bodyPr wrap="square" rtlCol="0" anchor="ctr"/>
          <a:lstStyle/>
          <a:p>
            <a:pPr indent="0" marL="0">
              <a:buNone/>
            </a:pPr>
            <a:r>
              <a:rPr lang="en-US" sz="1500" b="1" dirty="0">
                <a:solidFill>
                  <a:srgbClr val="1A1F71"/>
                </a:solidFill>
                <a:latin typeface="Calibri" pitchFamily="34" charset="0"/>
                <a:ea typeface="Calibri" pitchFamily="34" charset="-122"/>
                <a:cs typeface="Calibri" pitchFamily="34" charset="-120"/>
              </a:rPr>
              <a:t>Passkey + biometric checkout</a:t>
            </a:r>
            <a:endParaRPr lang="en-US" sz="1500" dirty="0"/>
          </a:p>
        </p:txBody>
      </p:sp>
      <p:sp>
        <p:nvSpPr>
          <p:cNvPr id="19" name="Text 17"/>
          <p:cNvSpPr/>
          <p:nvPr/>
        </p:nvSpPr>
        <p:spPr>
          <a:xfrm>
            <a:off x="2194560" y="4453128"/>
            <a:ext cx="932688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Frictionless authentication replaces OTP for 90%+ of transactions.</a:t>
            </a:r>
            <a:endParaRPr lang="en-US" sz="1100" dirty="0"/>
          </a:p>
        </p:txBody>
      </p:sp>
      <p:sp>
        <p:nvSpPr>
          <p:cNvPr id="20" name="Shape 18"/>
          <p:cNvSpPr/>
          <p:nvPr/>
        </p:nvSpPr>
        <p:spPr>
          <a:xfrm>
            <a:off x="457200" y="5074920"/>
            <a:ext cx="11247120" cy="960120"/>
          </a:xfrm>
          <a:prstGeom prst="roundRect">
            <a:avLst>
              <a:gd name="adj" fmla="val 7619"/>
            </a:avLst>
          </a:prstGeom>
          <a:solidFill>
            <a:srgbClr val="FFFFFF"/>
          </a:solidFill>
          <a:ln w="12700">
            <a:solidFill>
              <a:srgbClr val="E3E7F1"/>
            </a:solidFill>
            <a:prstDash val="solid"/>
          </a:ln>
        </p:spPr>
      </p:sp>
      <p:sp>
        <p:nvSpPr>
          <p:cNvPr id="21" name="Shape 19"/>
          <p:cNvSpPr/>
          <p:nvPr/>
        </p:nvSpPr>
        <p:spPr>
          <a:xfrm>
            <a:off x="594360" y="5239512"/>
            <a:ext cx="1371600" cy="640080"/>
          </a:xfrm>
          <a:prstGeom prst="roundRect">
            <a:avLst>
              <a:gd name="adj" fmla="val 50000"/>
            </a:avLst>
          </a:prstGeom>
          <a:solidFill>
            <a:srgbClr val="1A1F71"/>
          </a:solidFill>
          <a:ln w="12700">
            <a:solidFill>
              <a:srgbClr val="1A1F71"/>
            </a:solidFill>
            <a:prstDash val="solid"/>
          </a:ln>
        </p:spPr>
      </p:sp>
      <p:sp>
        <p:nvSpPr>
          <p:cNvPr id="22" name="Text 20"/>
          <p:cNvSpPr/>
          <p:nvPr/>
        </p:nvSpPr>
        <p:spPr>
          <a:xfrm>
            <a:off x="594360" y="5239512"/>
            <a:ext cx="1371600" cy="640080"/>
          </a:xfrm>
          <a:prstGeom prst="rect">
            <a:avLst/>
          </a:prstGeom>
          <a:noFill/>
          <a:ln/>
        </p:spPr>
        <p:txBody>
          <a:bodyPr wrap="square" rtlCol="0" anchor="ctr"/>
          <a:lstStyle/>
          <a:p>
            <a:pPr algn="ctr" indent="0" marL="0">
              <a:buNone/>
            </a:pPr>
            <a:r>
              <a:rPr lang="en-US" sz="1300" b="1" spc="200" kern="0" dirty="0">
                <a:solidFill>
                  <a:srgbClr val="F7B600"/>
                </a:solidFill>
                <a:latin typeface="Calibri" pitchFamily="34" charset="0"/>
                <a:ea typeface="Calibri" pitchFamily="34" charset="-122"/>
                <a:cs typeface="Calibri" pitchFamily="34" charset="-120"/>
              </a:rPr>
              <a:t>BEYOND</a:t>
            </a:r>
            <a:endParaRPr lang="en-US" sz="1300" dirty="0"/>
          </a:p>
        </p:txBody>
      </p:sp>
      <p:sp>
        <p:nvSpPr>
          <p:cNvPr id="23" name="Text 21"/>
          <p:cNvSpPr/>
          <p:nvPr/>
        </p:nvSpPr>
        <p:spPr>
          <a:xfrm>
            <a:off x="2194560" y="5193792"/>
            <a:ext cx="9326880" cy="365760"/>
          </a:xfrm>
          <a:prstGeom prst="rect">
            <a:avLst/>
          </a:prstGeom>
          <a:noFill/>
          <a:ln/>
        </p:spPr>
        <p:txBody>
          <a:bodyPr wrap="square" rtlCol="0" anchor="ctr"/>
          <a:lstStyle/>
          <a:p>
            <a:pPr indent="0" marL="0">
              <a:buNone/>
            </a:pPr>
            <a:r>
              <a:rPr lang="en-US" sz="1500" b="1" dirty="0">
                <a:solidFill>
                  <a:srgbClr val="1A1F71"/>
                </a:solidFill>
                <a:latin typeface="Calibri" pitchFamily="34" charset="0"/>
                <a:ea typeface="Calibri" pitchFamily="34" charset="-122"/>
                <a:cs typeface="Calibri" pitchFamily="34" charset="-120"/>
              </a:rPr>
              <a:t>Federated learning network</a:t>
            </a:r>
            <a:endParaRPr lang="en-US" sz="1500" dirty="0"/>
          </a:p>
        </p:txBody>
      </p:sp>
      <p:sp>
        <p:nvSpPr>
          <p:cNvPr id="24" name="Text 22"/>
          <p:cNvSpPr/>
          <p:nvPr/>
        </p:nvSpPr>
        <p:spPr>
          <a:xfrm>
            <a:off x="2194560" y="5550408"/>
            <a:ext cx="9326880" cy="457200"/>
          </a:xfrm>
          <a:prstGeom prst="rect">
            <a:avLst/>
          </a:prstGeom>
          <a:noFill/>
          <a:ln/>
        </p:spPr>
        <p:txBody>
          <a:bodyPr wrap="square" rtlCol="0" anchor="ctr"/>
          <a:lstStyle/>
          <a:p>
            <a:pPr indent="0" marL="0">
              <a:buNone/>
            </a:pPr>
            <a:r>
              <a:rPr lang="en-US" sz="1100" dirty="0">
                <a:solidFill>
                  <a:srgbClr val="5A6385"/>
                </a:solidFill>
                <a:latin typeface="Calibri" pitchFamily="34" charset="0"/>
                <a:ea typeface="Calibri" pitchFamily="34" charset="-122"/>
                <a:cs typeface="Calibri" pitchFamily="34" charset="-120"/>
              </a:rPr>
              <a:t>Issuers, acquirers, and merchants train shared models without sharing raw data.</a:t>
            </a:r>
            <a:endParaRPr lang="en-US" sz="11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F7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F71"/>
          </a:solidFill>
          <a:ln w="12700">
            <a:solidFill>
              <a:srgbClr val="1A1F71"/>
            </a:solidFill>
            <a:prstDash val="solid"/>
          </a:ln>
        </p:spPr>
      </p:sp>
      <p:sp>
        <p:nvSpPr>
          <p:cNvPr id="3" name="Shape 1"/>
          <p:cNvSpPr/>
          <p:nvPr/>
        </p:nvSpPr>
        <p:spPr>
          <a:xfrm>
            <a:off x="0" y="0"/>
            <a:ext cx="12188952" cy="54864"/>
          </a:xfrm>
          <a:prstGeom prst="rect">
            <a:avLst/>
          </a:prstGeom>
          <a:solidFill>
            <a:srgbClr val="F7B600"/>
          </a:solidFill>
          <a:ln w="12700">
            <a:solidFill>
              <a:srgbClr val="F7B600"/>
            </a:solidFill>
            <a:prstDash val="solid"/>
          </a:ln>
        </p:spPr>
      </p:sp>
      <p:sp>
        <p:nvSpPr>
          <p:cNvPr id="4" name="Text 2"/>
          <p:cNvSpPr/>
          <p:nvPr/>
        </p:nvSpPr>
        <p:spPr>
          <a:xfrm>
            <a:off x="548640" y="457200"/>
            <a:ext cx="2743200" cy="640080"/>
          </a:xfrm>
          <a:prstGeom prst="rect">
            <a:avLst/>
          </a:prstGeom>
          <a:noFill/>
          <a:ln/>
        </p:spPr>
        <p:txBody>
          <a:bodyPr wrap="square" rtlCol="0" anchor="ctr"/>
          <a:lstStyle/>
          <a:p>
            <a:pPr indent="0" marL="0">
              <a:buNone/>
            </a:pPr>
            <a:r>
              <a:rPr lang="en-US" sz="3200" b="1" i="1" spc="600" kern="0" dirty="0">
                <a:solidFill>
                  <a:srgbClr val="FFFFFF"/>
                </a:solidFill>
                <a:latin typeface="Arial" pitchFamily="34" charset="0"/>
                <a:ea typeface="Arial" pitchFamily="34" charset="-122"/>
                <a:cs typeface="Arial" pitchFamily="34" charset="-120"/>
              </a:rPr>
              <a:t>VISA</a:t>
            </a:r>
            <a:endParaRPr lang="en-US" sz="3200" dirty="0"/>
          </a:p>
        </p:txBody>
      </p:sp>
      <p:sp>
        <p:nvSpPr>
          <p:cNvPr id="5" name="Text 3"/>
          <p:cNvSpPr/>
          <p:nvPr/>
        </p:nvSpPr>
        <p:spPr>
          <a:xfrm>
            <a:off x="548640" y="2560320"/>
            <a:ext cx="10972800" cy="1097280"/>
          </a:xfrm>
          <a:prstGeom prst="rect">
            <a:avLst/>
          </a:prstGeom>
          <a:noFill/>
          <a:ln/>
        </p:spPr>
        <p:txBody>
          <a:bodyPr wrap="square"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Thank you.</a:t>
            </a:r>
            <a:endParaRPr lang="en-US" sz="6400" dirty="0"/>
          </a:p>
        </p:txBody>
      </p:sp>
      <p:sp>
        <p:nvSpPr>
          <p:cNvPr id="6" name="Shape 4"/>
          <p:cNvSpPr/>
          <p:nvPr/>
        </p:nvSpPr>
        <p:spPr>
          <a:xfrm>
            <a:off x="548640" y="3703320"/>
            <a:ext cx="1371600" cy="0"/>
          </a:xfrm>
          <a:prstGeom prst="line">
            <a:avLst/>
          </a:prstGeom>
          <a:noFill/>
          <a:ln w="50800">
            <a:solidFill>
              <a:srgbClr val="F7B600"/>
            </a:solidFill>
            <a:prstDash val="solid"/>
          </a:ln>
        </p:spPr>
      </p:sp>
      <p:sp>
        <p:nvSpPr>
          <p:cNvPr id="7" name="Text 5"/>
          <p:cNvSpPr/>
          <p:nvPr/>
        </p:nvSpPr>
        <p:spPr>
          <a:xfrm>
            <a:off x="548640" y="3886200"/>
            <a:ext cx="10972800" cy="548640"/>
          </a:xfrm>
          <a:prstGeom prst="rect">
            <a:avLst/>
          </a:prstGeom>
          <a:noFill/>
          <a:ln/>
        </p:spPr>
        <p:txBody>
          <a:bodyPr wrap="square" rtlCol="0" anchor="ctr"/>
          <a:lstStyle/>
          <a:p>
            <a:pPr indent="0" marL="0">
              <a:buNone/>
            </a:pPr>
            <a:r>
              <a:rPr lang="en-US" sz="2000" i="1" dirty="0">
                <a:solidFill>
                  <a:srgbClr val="C9D2F0"/>
                </a:solidFill>
                <a:latin typeface="Calibri" pitchFamily="34" charset="0"/>
                <a:ea typeface="Calibri" pitchFamily="34" charset="-122"/>
                <a:cs typeface="Calibri" pitchFamily="34" charset="-120"/>
              </a:rPr>
              <a:t>Let's make every payment safer — together.</a:t>
            </a:r>
            <a:endParaRPr lang="en-US" sz="2000" dirty="0"/>
          </a:p>
        </p:txBody>
      </p:sp>
      <p:sp>
        <p:nvSpPr>
          <p:cNvPr id="8" name="Text 6"/>
          <p:cNvSpPr/>
          <p:nvPr/>
        </p:nvSpPr>
        <p:spPr>
          <a:xfrm>
            <a:off x="548640" y="5120640"/>
            <a:ext cx="10972800" cy="365760"/>
          </a:xfrm>
          <a:prstGeom prst="rect">
            <a:avLst/>
          </a:prstGeom>
          <a:noFill/>
          <a:ln/>
        </p:spPr>
        <p:txBody>
          <a:bodyPr wrap="square" rtlCol="0" anchor="ctr"/>
          <a:lstStyle/>
          <a:p>
            <a:pPr indent="0" marL="0">
              <a:buNone/>
            </a:pPr>
            <a:r>
              <a:rPr lang="en-US" sz="1400" b="1" dirty="0">
                <a:solidFill>
                  <a:srgbClr val="F7B600"/>
                </a:solidFill>
                <a:latin typeface="Calibri" pitchFamily="34" charset="0"/>
                <a:ea typeface="Calibri" pitchFamily="34" charset="-122"/>
                <a:cs typeface="Calibri" pitchFamily="34" charset="-120"/>
              </a:rPr>
              <a:t>Learn more at  visa.com / decision-manager</a:t>
            </a:r>
            <a:endParaRPr lang="en-US" sz="1400" dirty="0"/>
          </a:p>
        </p:txBody>
      </p:sp>
      <p:sp>
        <p:nvSpPr>
          <p:cNvPr id="9" name="Text 7"/>
          <p:cNvSpPr/>
          <p:nvPr/>
        </p:nvSpPr>
        <p:spPr>
          <a:xfrm>
            <a:off x="548640" y="6309360"/>
            <a:ext cx="10972800" cy="274320"/>
          </a:xfrm>
          <a:prstGeom prst="rect">
            <a:avLst/>
          </a:prstGeom>
          <a:noFill/>
          <a:ln/>
        </p:spPr>
        <p:txBody>
          <a:bodyPr wrap="square" rtlCol="0" anchor="ctr"/>
          <a:lstStyle/>
          <a:p>
            <a:pPr indent="0" marL="0">
              <a:buNone/>
            </a:pPr>
            <a:r>
              <a:rPr lang="en-US" sz="1000" dirty="0">
                <a:solidFill>
                  <a:srgbClr val="9AA7D6"/>
                </a:solidFill>
                <a:latin typeface="Calibri" pitchFamily="34" charset="0"/>
                <a:ea typeface="Calibri" pitchFamily="34" charset="-122"/>
                <a:cs typeface="Calibri" pitchFamily="34" charset="-120"/>
              </a:rPr>
              <a:t>© 2025 Visa Inc.  •  All rights reserved.  •  Visa Confidential</a:t>
            </a:r>
            <a:endParaRPr lang="en-US" sz="1000" dirty="0"/>
          </a:p>
        </p:txBody>
      </p:sp>
      <p:sp>
        <p:nvSpPr>
          <p:cNvPr id="25" name="Slide Number Placeholder 0"/>
          <p:cNvSpPr>
            <a:spLocks noGrp="1"/>
          </p:cNvSpPr>
          <p:nvPr>
            <p:ph type="sldNum" sz="quarter" idx="4294967295"/>
          </p:nvPr>
        </p:nvSpPr>
        <p:spPr>
          <a:xfrm>
            <a:off x="11750040" y="66476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&amp; Prevention — Visa Decision Manager</dc:title>
  <dc:subject>PptxGenJS Presentation</dc:subject>
  <dc:creator>Visa Insights</dc:creator>
  <cp:lastModifiedBy>Visa Insights</cp:lastModifiedBy>
  <cp:revision>1</cp:revision>
  <dcterms:created xsi:type="dcterms:W3CDTF">2026-06-16T06:56:55Z</dcterms:created>
  <dcterms:modified xsi:type="dcterms:W3CDTF">2026-06-16T06:56:55Z</dcterms:modified>
</cp:coreProperties>
</file>